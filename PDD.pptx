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slides/slide19.xml" ContentType="application/vnd.openxmlformats-officedocument.presentationml.slid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9" r:id="rId20"/>
    <p:sldId id="271" r:id="rId22"/>
    <p:sldId id="270" r:id="rId21"/>
    <p:sldId id="262" r:id="rId8"/>
    <p:sldId id="272" r:id="rId23"/>
    <p:sldId id="263" r:id="rId9"/>
    <p:sldId id="273" r:id="rId24"/>
    <p:sldId id="264" r:id="rId10"/>
    <p:sldId id="265" r:id="rId11"/>
    <p:sldId id="266" r:id="rId12"/>
    <p:sldId id="267" r:id="rId13"/>
    <p:sldId id="274" r:id="rId25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8" Type="http://schemas.openxmlformats.org/officeDocument/2006/relationships/slide" Target="slides/slide10.xml"/><Relationship Id="rId9" Type="http://schemas.openxmlformats.org/officeDocument/2006/relationships/slide" Target="slides/slide12.xml"/><Relationship Id="rId10" Type="http://schemas.openxmlformats.org/officeDocument/2006/relationships/slide" Target="slides/slide14.xml"/><Relationship Id="rId11" Type="http://schemas.openxmlformats.org/officeDocument/2006/relationships/slide" Target="slides/slide15.xml"/><Relationship Id="rId12" Type="http://schemas.openxmlformats.org/officeDocument/2006/relationships/slide" Target="slides/slide16.xml"/><Relationship Id="rId13" Type="http://schemas.openxmlformats.org/officeDocument/2006/relationships/slide" Target="slides/slide17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Relationship Id="rId20" Type="http://schemas.openxmlformats.org/officeDocument/2006/relationships/slide" Target="slides/slide6.xml"/><Relationship Id="rId21" Type="http://schemas.openxmlformats.org/officeDocument/2006/relationships/slide" Target="slides/slide9.xml"/><Relationship Id="rId22" Type="http://schemas.openxmlformats.org/officeDocument/2006/relationships/slide" Target="slides/slide8.xml"/><Relationship Id="rId23" Type="http://schemas.openxmlformats.org/officeDocument/2006/relationships/slide" Target="slides/slide11.xml"/><Relationship Id="rId24" Type="http://schemas.openxmlformats.org/officeDocument/2006/relationships/slide" Target="slides/slide13.xml"/>  <Relationship Id="rId25" Type="http://schemas.openxmlformats.org/officeDocument/2006/relationships/slide" Target="slides/slide19.xml"/>
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Today</c:v>
                </c:pt>
              </c:strCache>
            </c:strRef>
          </c:tx>
          <c:spPr>
            <a:solidFill>
              <a:srgbClr val="B3261E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E2A3A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Identify gaps &amp; inform</c:v>
                  </c:pt>
                  <c:pt idx="1">
                    <c:v>Sales visits to collect (2 visits)</c:v>
                  </c:pt>
                  <c:pt idx="2">
                    <c:v>Physical handover to branch</c:v>
                  </c:pt>
                  <c:pt idx="3">
                    <c:v>Branch re-validation (2 cycles)</c:v>
                  </c:pt>
                  <c:pt idx="4">
                    <c:v>Follow-up calls &amp; tracking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0.5</c:v>
                </c:pt>
                <c:pt idx="1">
                  <c:v>6</c:v>
                </c:pt>
                <c:pt idx="2">
                  <c:v>0.5</c:v>
                </c:pt>
                <c:pt idx="3">
                  <c:v>2</c:v>
                </c:pt>
                <c:pt idx="4">
                  <c:v>1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Automated</c:v>
                </c:pt>
              </c:strCache>
            </c:strRef>
          </c:tx>
          <c:spPr>
            <a:solidFill>
              <a:srgbClr val="1E7B4F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E2A3A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Identify gaps &amp; inform</c:v>
                  </c:pt>
                  <c:pt idx="1">
                    <c:v>Sales visits to collect (2 visits)</c:v>
                  </c:pt>
                  <c:pt idx="2">
                    <c:v>Physical handover to branch</c:v>
                  </c:pt>
                  <c:pt idx="3">
                    <c:v>Branch re-validation (2 cycles)</c:v>
                  </c:pt>
                  <c:pt idx="4">
                    <c:v>Follow-up calls &amp; tracking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0</c:v>
                </c:pt>
                <c:pt idx="1">
                  <c:v>0.5</c:v>
                </c:pt>
                <c:pt idx="2">
                  <c:v>0</c:v>
                </c:pt>
                <c:pt idx="3">
                  <c:v>0.5</c:v>
                </c:pt>
                <c:pt idx="4">
                  <c:v>0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0" i="0" strike="noStrike" sz="1000" u="none">
                  <a:solidFill>
                    <a:srgbClr val="1E2A3A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50" b="0" i="0" u="none" strike="noStrike">
                <a:solidFill>
                  <a:srgbClr val="1E2A3A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100" b="1">
                <a:solidFill>
                  <a:srgbClr val="0A1F44"/>
                </a:solidFill>
                <a:latin typeface="Calibri"/>
              </a:rPr>
              <a:t>Annual cost, ₹ Cr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Annual cost (₹ Cr)</c:v>
                </c:pt>
              </c:strCache>
            </c:strRef>
          </c:tx>
          <c:dPt>
            <c:idx val="0"/>
            <c:spPr>
              <a:solidFill>
                <a:srgbClr val="8A97AB"/>
              </a:solidFill>
            </c:spPr>
          </c:dPt>
          <c:dPt>
            <c:idx val="1"/>
            <c:spPr>
              <a:solidFill>
                <a:srgbClr val="C9A227"/>
              </a:solidFill>
            </c:spPr>
          </c:dPt>
          <c:cat>
            <c:strRef>
              <c:f>Sheet1!$A$2:$A$3</c:f>
              <c:strCache>
                <c:ptCount val="2"/>
                <c:pt idx="0">
                  <c:v>Existing</c:v>
                </c:pt>
                <c:pt idx="1">
                  <c:v>New process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6.24</c:v>
                </c:pt>
                <c:pt idx="1">
                  <c:v>0.67</c:v>
                </c:pt>
              </c:numCache>
            </c:numRef>
          </c:val>
        </c:ser>
        <c:dLbls>
          <c:numFmt formatCode="&quot;₹&quot;0.00&quot; Cr&quot;" sourceLinked="0"/>
          <c:txPr>
            <a:bodyPr/>
            <a:lstStyle/>
            <a:p>
              <a:pPr>
                <a:defRPr sz="1200" b="1">
                  <a:solidFill>
                    <a:srgbClr val="0A1F44"/>
                  </a:solidFill>
                  <a:latin typeface="Calibr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DDE3EC"/>
            </a:solidFill>
          </a:ln>
        </c:spPr>
        <c:txPr>
          <a:bodyPr/>
          <a:lstStyle/>
          <a:p>
            <a:pPr>
              <a:defRPr sz="1050">
                <a:solidFill>
                  <a:srgbClr val="1E2A3A"/>
                </a:solidFill>
                <a:latin typeface="Calibri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7.6"/>
          <c:min val="0.0"/>
        </c:scaling>
        <c:delete/>
        <c:axPos val="l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Purpose: approval for a pilot that turns the missing-document loop from 7+ days into a same-day process. No product is being bought here; this is the target architecture and business case.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Customer journey: secure SMS/WhatsApp link, OTP-verified portal listing only the missing documents with Take Photo / Upload File, then live status per document and re-upload with reason.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Net saving = (₹5,200 − ₹560) × 12,000 cases = ₹5.57 Cr. Run cost ₹13.2 L/yr: OCR ₹0 (PaddleOCR and Python matching run in-house on bank servers, no per-page fee), messaging ₹1.2 L (10,000 × 4 × ₹0.25 × 12), bank infrastructure ₹12 L (₹1 L/month fixed, including the OCR server). At 20K docs/month run cost is ₹1.2 L/month (~₹6/doc); at 40K, ₹1.4 L/month (~₹3.5/doc), assuming the OCR server keeps up at that volume.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Run-cost basis (indicative): transactional SMS about ₹0.12–0.22 per SMS plus GST; WhatsApp utility/authentication template about ₹0.115 per message plus provider fee; OCR has no per-page cost because PaddleOCR, OpenCV and RapidFuzz are open source and run on bank servers. For reference, cloud OCR would cost roughly $1.5 (read) to $10–50 (prebuilt/custom) per 1,000 pages. ₹0.25 per message is rounded up to stay conservative. Infra ₹1 L/month is a fixed estimate for app hosting, workflow engine, the Python OCR service, database, document storage and monitoring.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Workflow view of the target architecture: core-system fetch and document rule matrix, Temporal parent workflow per agreement with one child workflow per missing document, three stages per child (customer upload, AI/OCR review with match %, human review). Stage 2 shows two ways to build the OCR agent: Option A uses Azure Document Intelligence (custom classifier plus Read or prebuilt OCR, about ₹1 per document, processed in the Azure India region) with a .NET match engine; Option B is an in-bank Python service (OpenCV quality check, PaddleOCR, keyword, pattern and label rules, optional local AI, RapidFuzz scoring) with no per-page cost and documents never leaving the bank. Both return the same match % and field-level results. The cost slides assume Option B, re-upload loop, and case closure when all children are approved.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Bank staff view: agreement list with progress, per-document 5-step tracker, match %, pending-with column, and side-by-side AI field match with Approve / Request re-upload.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AI is introduced in three phases. In shadow mode it scores every document while staff still check all of them, so its accuracy is measured against real decisions. Only after a proposed gate (about 98% agreement on 1,000+ pilot documents, signed off by Credit and Ops) does it move to assisted review, and later to auto-accepting high-confidence documents with a 5% random audit sample. In every phase: explainable field-level matches, staff own all content rejections, weekly accuracy monitoring with full logging, and manual fallback.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Per case, the existing process costs about ₹5,200: ₹600 gap identification and follow-up, ₹3,000 sales visits, ₹600 travel and ₹1,000 handover and branch re-validation. The new process costs about ₹560: ₹250 optional assisted upload, ₹200 branch exception review, and ₹110 technology run cost (OCR ₹0 as PaddleOCR runs in-house on bank servers, messaging ₹10, bank infrastructure ₹100 per case). At 12,000 cases a year that is ₹6.24 Cr versus ₹0.67 Cr, a net saving of ₹5.57 Cr (89% lower cost per case).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image" Target="../media/image-6-7.png"/><Relationship Id="rId8" Type="http://schemas.openxmlformats.org/officeDocument/2006/relationships/image" Target="../media/image-6-8.png"/><Relationship Id="rId9" Type="http://schemas.openxmlformats.org/officeDocument/2006/relationships/image" Target="../media/image-6-9.png"/><Relationship Id="rId10" Type="http://schemas.openxmlformats.org/officeDocument/2006/relationships/image" Target="../media/image-6-10.png"/><Relationship Id="rId11" Type="http://schemas.openxmlformats.org/officeDocument/2006/relationships/image" Target="../media/image-6-11.png"/><Relationship Id="rId12" Type="http://schemas.openxmlformats.org/officeDocument/2006/relationships/image" Target="../media/image-6-12.png"/><Relationship Id="rId13" Type="http://schemas.openxmlformats.org/officeDocument/2006/relationships/image" Target="../media/image-6-13.png"/><Relationship Id="rId14" Type="http://schemas.openxmlformats.org/officeDocument/2006/relationships/image" Target="../media/image-6-14.png"/><Relationship Id="rId15" Type="http://schemas.openxmlformats.org/officeDocument/2006/relationships/slideLayout" Target="../slideLayouts/slideLayout1.xml"/><Relationship Id="rId16" Type="http://schemas.openxmlformats.org/officeDocument/2006/relationships/image" Target="../media/image1.png"/><Relationship Id="rId17" Type="http://schemas.openxmlformats.org/officeDocument/2006/relationships/notesSlide" Target="../notesSlides/notesSlide14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image" Target="../media/image-6-7.png"/><Relationship Id="rId8" Type="http://schemas.openxmlformats.org/officeDocument/2006/relationships/image" Target="../media/image-6-8.png"/><Relationship Id="rId9" Type="http://schemas.openxmlformats.org/officeDocument/2006/relationships/image" Target="../media/image-6-9.png"/><Relationship Id="rId10" Type="http://schemas.openxmlformats.org/officeDocument/2006/relationships/image" Target="../media/image-6-10.png"/><Relationship Id="rId11" Type="http://schemas.openxmlformats.org/officeDocument/2006/relationships/image" Target="../media/image-6-11.png"/><Relationship Id="rId12" Type="http://schemas.openxmlformats.org/officeDocument/2006/relationships/image" Target="../media/image-6-12.png"/><Relationship Id="rId13" Type="http://schemas.openxmlformats.org/officeDocument/2006/relationships/image" Target="../media/image-6-13.png"/><Relationship Id="rId14" Type="http://schemas.openxmlformats.org/officeDocument/2006/relationships/image" Target="../media/image-6-14.png"/><Relationship Id="rId15" Type="http://schemas.openxmlformats.org/officeDocument/2006/relationships/slideLayout" Target="../slideLayouts/slideLayout1.xml"/><Relationship Id="rId16" Type="http://schemas.openxmlformats.org/officeDocument/2006/relationships/image" Target="../media/image1.png"/><Relationship Id="rId17" Type="http://schemas.openxmlformats.org/officeDocument/2006/relationships/image" Target="../media/image2.png"/><Relationship Id="rId18" Type="http://schemas.openxmlformats.org/officeDocument/2006/relationships/notesSlide" Target="../notesSlides/notesSlide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image" Target="../media/image-6-7.png"/><Relationship Id="rId8" Type="http://schemas.openxmlformats.org/officeDocument/2006/relationships/image" Target="../media/image-6-8.png"/><Relationship Id="rId9" Type="http://schemas.openxmlformats.org/officeDocument/2006/relationships/image" Target="../media/image-6-9.png"/><Relationship Id="rId10" Type="http://schemas.openxmlformats.org/officeDocument/2006/relationships/image" Target="../media/image-6-10.png"/><Relationship Id="rId11" Type="http://schemas.openxmlformats.org/officeDocument/2006/relationships/image" Target="../media/image-6-11.png"/><Relationship Id="rId12" Type="http://schemas.openxmlformats.org/officeDocument/2006/relationships/image" Target="../media/image-6-12.png"/><Relationship Id="rId13" Type="http://schemas.openxmlformats.org/officeDocument/2006/relationships/image" Target="../media/image-6-13.png"/><Relationship Id="rId14" Type="http://schemas.openxmlformats.org/officeDocument/2006/relationships/image" Target="../media/image-6-14.png"/><Relationship Id="rId15" Type="http://schemas.openxmlformats.org/officeDocument/2006/relationships/slideLayout" Target="../slideLayouts/slideLayout1.xml"/><Relationship Id="rId16" Type="http://schemas.openxmlformats.org/officeDocument/2006/relationships/image" Target="../media/image1.png"/><Relationship Id="rId17" Type="http://schemas.openxmlformats.org/officeDocument/2006/relationships/image" Target="../media/image3.png"/><Relationship Id="rId18" Type="http://schemas.openxmlformats.org/officeDocument/2006/relationships/notesSlide" Target="../notesSlides/notesSlide15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image" Target="../media/image-7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image" Target="../media/image-2-5.png"/><Relationship Id="rId2" Type="http://schemas.openxmlformats.org/officeDocument/2006/relationships/slideLayout" Target="../slideLayouts/slideLayout1.xml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notesSlide" Target="../notesSlides/notesSlide16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chart" Target="..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chart" Target="../charts/chart2.xml"/><Relationship Id="rId3" Type="http://schemas.openxmlformats.org/officeDocument/2006/relationships/notesSlide" Target="../notesSlides/notesSlide1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1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F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685800"/>
            <a:ext cx="777240" cy="777240"/>
          </a:xfrm>
          <a:prstGeom prst="ellipse">
            <a:avLst/>
          </a:prstGeom>
          <a:solidFill>
            <a:srgbClr val="1A3566"/>
          </a:solidFill>
          <a:ln w="12700">
            <a:solidFill>
              <a:srgbClr val="1A3566"/>
            </a:solidFill>
            <a:prstDash val="solid"/>
          </a:ln>
        </p:spPr>
        <p:txBody>
          <a:bodyPr/>
          <a:p/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5178" y="872338"/>
            <a:ext cx="404165" cy="404165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48640" y="1645920"/>
            <a:ext cx="8046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7 Days to 1 Day</a:t>
            </a:r>
            <a:endParaRPr lang="en-US" sz="44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2450592"/>
            <a:ext cx="7863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6ED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Automating missing-document collection and verification after loan login</a:t>
            </a:r>
            <a:endParaRPr lang="en-US" sz="18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301752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secure upload link. Instant OCR + AI verification. Branch reviews only the exceptions.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443484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FC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AGRI Business Group  |  Process transformation proposal  |  October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A1F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Today: a manual loop that takes 7+ days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786384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missing or unclear document sends the file back through sales and branch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1426464" cy="1280160"/>
          </a:xfrm>
          <a:prstGeom prst="roundRect">
            <a:avLst>
              <a:gd name="adj" fmla="val 5714"/>
            </a:avLst>
          </a:prstGeom>
          <a:solidFill>
            <a:srgbClr val="F1F4F9"/>
          </a:solidFill>
          <a:ln w="12700">
            <a:solidFill>
              <a:srgbClr val="F1F4F9"/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914400" y="1463040"/>
            <a:ext cx="512064" cy="512064"/>
          </a:xfrm>
          <a:prstGeom prst="ellipse">
            <a:avLst/>
          </a:prstGeom>
          <a:solidFill>
            <a:srgbClr val="0A1F44"/>
          </a:solidFill>
          <a:ln w="12700">
            <a:solidFill>
              <a:srgbClr val="0A1F44"/>
            </a:solidFill>
            <a:prstDash val="solid"/>
          </a:ln>
        </p:spPr>
        <p:txBody>
          <a:bodyPr/>
          <a:p/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7295" y="1585935"/>
            <a:ext cx="266273" cy="266273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530352" y="2057400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completes loan journey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1920240" y="1719072"/>
            <a:ext cx="201168" cy="0"/>
          </a:xfrm>
          <a:prstGeom prst="line">
            <a:avLst/>
          </a:prstGeom>
          <a:noFill/>
          <a:ln w="25400">
            <a:solidFill>
              <a:srgbClr val="C9A227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9" name="Shape 6"/>
          <p:cNvSpPr/>
          <p:nvPr/>
        </p:nvSpPr>
        <p:spPr>
          <a:xfrm>
            <a:off x="2157984" y="1325880"/>
            <a:ext cx="1426464" cy="1280160"/>
          </a:xfrm>
          <a:prstGeom prst="roundRect">
            <a:avLst>
              <a:gd name="adj" fmla="val 5714"/>
            </a:avLst>
          </a:prstGeom>
          <a:solidFill>
            <a:srgbClr val="F1F4F9"/>
          </a:solidFill>
          <a:ln w="12700">
            <a:solidFill>
              <a:srgbClr val="F1F4F9"/>
            </a:solidFill>
            <a:prstDash val="solid"/>
          </a:ln>
        </p:spPr>
        <p:txBody>
          <a:bodyPr/>
          <a:p/>
        </p:txBody>
      </p:sp>
      <p:sp>
        <p:nvSpPr>
          <p:cNvPr id="10" name="Shape 7"/>
          <p:cNvSpPr/>
          <p:nvPr/>
        </p:nvSpPr>
        <p:spPr>
          <a:xfrm>
            <a:off x="2615184" y="1463040"/>
            <a:ext cx="512064" cy="512064"/>
          </a:xfrm>
          <a:prstGeom prst="ellipse">
            <a:avLst/>
          </a:prstGeom>
          <a:solidFill>
            <a:srgbClr val="0A1F44"/>
          </a:solidFill>
          <a:ln w="12700">
            <a:solidFill>
              <a:srgbClr val="0A1F44"/>
            </a:solidFill>
            <a:prstDash val="solid"/>
          </a:ln>
        </p:spPr>
        <p:txBody>
          <a:bodyPr/>
          <a:p/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38079" y="1585935"/>
            <a:ext cx="266273" cy="266273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2231136" y="2057400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Branch Ops finds documents missing</a:t>
            </a:r>
            <a:endParaRPr lang="en-US" sz="1150" dirty="0"/>
          </a:p>
        </p:txBody>
      </p:sp>
      <p:sp>
        <p:nvSpPr>
          <p:cNvPr id="13" name="Shape 9"/>
          <p:cNvSpPr/>
          <p:nvPr/>
        </p:nvSpPr>
        <p:spPr>
          <a:xfrm>
            <a:off x="3621024" y="1719072"/>
            <a:ext cx="201168" cy="0"/>
          </a:xfrm>
          <a:prstGeom prst="line">
            <a:avLst/>
          </a:prstGeom>
          <a:noFill/>
          <a:ln w="25400">
            <a:solidFill>
              <a:srgbClr val="C9A227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14" name="Shape 10"/>
          <p:cNvSpPr/>
          <p:nvPr/>
        </p:nvSpPr>
        <p:spPr>
          <a:xfrm>
            <a:off x="3858768" y="1325880"/>
            <a:ext cx="1426464" cy="1280160"/>
          </a:xfrm>
          <a:prstGeom prst="roundRect">
            <a:avLst>
              <a:gd name="adj" fmla="val 5714"/>
            </a:avLst>
          </a:prstGeom>
          <a:solidFill>
            <a:srgbClr val="F1F4F9"/>
          </a:solidFill>
          <a:ln w="12700">
            <a:solidFill>
              <a:srgbClr val="F1F4F9"/>
            </a:solidFill>
            <a:prstDash val="solid"/>
          </a:ln>
        </p:spPr>
        <p:txBody>
          <a:bodyPr/>
          <a:p/>
        </p:txBody>
      </p:sp>
      <p:sp>
        <p:nvSpPr>
          <p:cNvPr id="15" name="Shape 11"/>
          <p:cNvSpPr/>
          <p:nvPr/>
        </p:nvSpPr>
        <p:spPr>
          <a:xfrm>
            <a:off x="4315968" y="1463040"/>
            <a:ext cx="512064" cy="512064"/>
          </a:xfrm>
          <a:prstGeom prst="ellipse">
            <a:avLst/>
          </a:prstGeom>
          <a:solidFill>
            <a:srgbClr val="0A1F44"/>
          </a:solidFill>
          <a:ln w="12700">
            <a:solidFill>
              <a:srgbClr val="0A1F44"/>
            </a:solidFill>
            <a:prstDash val="solid"/>
          </a:ln>
        </p:spPr>
        <p:txBody>
          <a:bodyPr/>
          <a:p/>
        </p:txBody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38863" y="1585935"/>
            <a:ext cx="266273" cy="266273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3931920" y="2057400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team visits customer to collect</a:t>
            </a:r>
            <a:endParaRPr lang="en-US" sz="1150" dirty="0"/>
          </a:p>
        </p:txBody>
      </p:sp>
      <p:sp>
        <p:nvSpPr>
          <p:cNvPr id="18" name="Shape 13"/>
          <p:cNvSpPr/>
          <p:nvPr/>
        </p:nvSpPr>
        <p:spPr>
          <a:xfrm>
            <a:off x="5321808" y="1719072"/>
            <a:ext cx="201168" cy="0"/>
          </a:xfrm>
          <a:prstGeom prst="line">
            <a:avLst/>
          </a:prstGeom>
          <a:noFill/>
          <a:ln w="25400">
            <a:solidFill>
              <a:srgbClr val="C9A227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19" name="Shape 14"/>
          <p:cNvSpPr/>
          <p:nvPr/>
        </p:nvSpPr>
        <p:spPr>
          <a:xfrm>
            <a:off x="5559552" y="1325880"/>
            <a:ext cx="1426464" cy="1280160"/>
          </a:xfrm>
          <a:prstGeom prst="roundRect">
            <a:avLst>
              <a:gd name="adj" fmla="val 5714"/>
            </a:avLst>
          </a:prstGeom>
          <a:solidFill>
            <a:srgbClr val="F1F4F9"/>
          </a:solidFill>
          <a:ln w="12700">
            <a:solidFill>
              <a:srgbClr val="F1F4F9"/>
            </a:solidFill>
            <a:prstDash val="solid"/>
          </a:ln>
        </p:spPr>
        <p:txBody>
          <a:bodyPr/>
          <a:p/>
        </p:txBody>
      </p:sp>
      <p:sp>
        <p:nvSpPr>
          <p:cNvPr id="20" name="Shape 15"/>
          <p:cNvSpPr/>
          <p:nvPr/>
        </p:nvSpPr>
        <p:spPr>
          <a:xfrm>
            <a:off x="6016752" y="1463040"/>
            <a:ext cx="512064" cy="512064"/>
          </a:xfrm>
          <a:prstGeom prst="ellipse">
            <a:avLst/>
          </a:prstGeom>
          <a:solidFill>
            <a:srgbClr val="0A1F44"/>
          </a:solidFill>
          <a:ln w="12700">
            <a:solidFill>
              <a:srgbClr val="0A1F44"/>
            </a:solidFill>
            <a:prstDash val="solid"/>
          </a:ln>
        </p:spPr>
        <p:txBody>
          <a:bodyPr/>
          <a:p/>
        </p:txBody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39647" y="1585935"/>
            <a:ext cx="266273" cy="266273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5632704" y="2057400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Documents carried back to branch</a:t>
            </a:r>
            <a:endParaRPr lang="en-US" sz="1150" dirty="0"/>
          </a:p>
        </p:txBody>
      </p:sp>
      <p:sp>
        <p:nvSpPr>
          <p:cNvPr id="23" name="Shape 17"/>
          <p:cNvSpPr/>
          <p:nvPr/>
        </p:nvSpPr>
        <p:spPr>
          <a:xfrm>
            <a:off x="7022592" y="1719072"/>
            <a:ext cx="201168" cy="0"/>
          </a:xfrm>
          <a:prstGeom prst="line">
            <a:avLst/>
          </a:prstGeom>
          <a:noFill/>
          <a:ln w="25400">
            <a:solidFill>
              <a:srgbClr val="C9A227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24" name="Shape 18"/>
          <p:cNvSpPr/>
          <p:nvPr/>
        </p:nvSpPr>
        <p:spPr>
          <a:xfrm>
            <a:off x="7260336" y="1325880"/>
            <a:ext cx="1426464" cy="1280160"/>
          </a:xfrm>
          <a:prstGeom prst="roundRect">
            <a:avLst>
              <a:gd name="adj" fmla="val 5714"/>
            </a:avLst>
          </a:prstGeom>
          <a:solidFill>
            <a:srgbClr val="FBEAEA"/>
          </a:solidFill>
          <a:ln w="12700">
            <a:solidFill>
              <a:srgbClr val="FBEAEA"/>
            </a:solidFill>
            <a:prstDash val="solid"/>
          </a:ln>
        </p:spPr>
        <p:txBody>
          <a:bodyPr/>
          <a:p/>
        </p:txBody>
      </p:sp>
      <p:sp>
        <p:nvSpPr>
          <p:cNvPr id="25" name="Shape 19"/>
          <p:cNvSpPr/>
          <p:nvPr/>
        </p:nvSpPr>
        <p:spPr>
          <a:xfrm>
            <a:off x="7717536" y="1463040"/>
            <a:ext cx="512064" cy="512064"/>
          </a:xfrm>
          <a:prstGeom prst="ellipse">
            <a:avLst/>
          </a:prstGeom>
          <a:solidFill>
            <a:srgbClr val="B3261E"/>
          </a:solidFill>
          <a:ln w="12700">
            <a:solidFill>
              <a:srgbClr val="B3261E"/>
            </a:solidFill>
            <a:prstDash val="solid"/>
          </a:ln>
        </p:spPr>
        <p:txBody>
          <a:bodyPr/>
          <a:p/>
        </p:txBody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40431" y="1585935"/>
            <a:ext cx="266273" cy="266273"/>
          </a:xfrm>
          <a:prstGeom prst="rect">
            <a:avLst/>
          </a:prstGeom>
        </p:spPr>
      </p:pic>
      <p:sp>
        <p:nvSpPr>
          <p:cNvPr id="27" name="Text 20"/>
          <p:cNvSpPr txBox="1"/>
          <p:nvPr/>
        </p:nvSpPr>
        <p:spPr>
          <a:xfrm>
            <a:off x="7333488" y="2057400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Branch Ops validates again</a:t>
            </a:r>
            <a:endParaRPr lang="en-US" sz="1150" dirty="0"/>
          </a:p>
        </p:txBody>
      </p:sp>
      <p:sp>
        <p:nvSpPr>
          <p:cNvPr id="28" name="Shape 21"/>
          <p:cNvSpPr/>
          <p:nvPr/>
        </p:nvSpPr>
        <p:spPr>
          <a:xfrm>
            <a:off x="7973568" y="2624328"/>
            <a:ext cx="0" cy="301752"/>
          </a:xfrm>
          <a:prstGeom prst="line">
            <a:avLst/>
          </a:prstGeom>
          <a:noFill/>
          <a:ln w="25400">
            <a:solidFill>
              <a:srgbClr val="B3261E"/>
            </a:solidFill>
            <a:prstDash val="dash"/>
          </a:ln>
        </p:spPr>
        <p:txBody>
          <a:bodyPr/>
          <a:p/>
        </p:txBody>
      </p:sp>
      <p:sp>
        <p:nvSpPr>
          <p:cNvPr id="29" name="Shape 22"/>
          <p:cNvSpPr/>
          <p:nvPr/>
        </p:nvSpPr>
        <p:spPr>
          <a:xfrm flipH="1">
            <a:off x="4572000" y="2926080"/>
            <a:ext cx="3401568" cy="0"/>
          </a:xfrm>
          <a:prstGeom prst="line">
            <a:avLst/>
          </a:prstGeom>
          <a:noFill/>
          <a:ln w="25400">
            <a:solidFill>
              <a:srgbClr val="B3261E"/>
            </a:solidFill>
            <a:prstDash val="dash"/>
          </a:ln>
        </p:spPr>
        <p:txBody>
          <a:bodyPr/>
          <a:p/>
        </p:txBody>
      </p:sp>
      <p:sp>
        <p:nvSpPr>
          <p:cNvPr id="30" name="Shape 23"/>
          <p:cNvSpPr/>
          <p:nvPr/>
        </p:nvSpPr>
        <p:spPr>
          <a:xfrm flipV="1">
            <a:off x="4572000" y="2642616"/>
            <a:ext cx="0" cy="283464"/>
          </a:xfrm>
          <a:prstGeom prst="line">
            <a:avLst/>
          </a:prstGeom>
          <a:noFill/>
          <a:ln w="25400">
            <a:solidFill>
              <a:srgbClr val="B3261E"/>
            </a:solidFill>
            <a:prstDash val="dash"/>
            <a:tailEnd type="triangle"/>
          </a:ln>
        </p:spPr>
        <p:txBody>
          <a:bodyPr/>
          <a:p/>
        </p:txBody>
      </p:sp>
      <p:sp>
        <p:nvSpPr>
          <p:cNvPr id="31" name="Text 24"/>
          <p:cNvSpPr txBox="1"/>
          <p:nvPr/>
        </p:nvSpPr>
        <p:spPr>
          <a:xfrm>
            <a:off x="4681728" y="297180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B326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Still missing or unclear? Customer is contacted again and the loop repeats</a:t>
            </a:r>
            <a:endParaRPr lang="en-US" sz="1100" dirty="0"/>
          </a:p>
        </p:txBody>
      </p:sp>
      <p:sp>
        <p:nvSpPr>
          <p:cNvPr id="32" name="Text 25"/>
          <p:cNvSpPr txBox="1"/>
          <p:nvPr/>
        </p:nvSpPr>
        <p:spPr>
          <a:xfrm>
            <a:off x="457200" y="3611880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A1F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7+ days</a:t>
            </a:r>
            <a:endParaRPr lang="en-US" sz="2400" dirty="0"/>
          </a:p>
        </p:txBody>
      </p:sp>
      <p:sp>
        <p:nvSpPr>
          <p:cNvPr id="33" name="Text 26"/>
          <p:cNvSpPr txBox="1"/>
          <p:nvPr/>
        </p:nvSpPr>
        <p:spPr>
          <a:xfrm>
            <a:off x="457200" y="4087368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minimum turnaround</a:t>
            </a:r>
            <a:endParaRPr lang="en-US" sz="1100" dirty="0"/>
          </a:p>
        </p:txBody>
      </p:sp>
      <p:sp>
        <p:nvSpPr>
          <p:cNvPr id="34" name="Text 27"/>
          <p:cNvSpPr txBox="1"/>
          <p:nvPr/>
        </p:nvSpPr>
        <p:spPr>
          <a:xfrm>
            <a:off x="2560320" y="3611880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A1F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 handoffs</a:t>
            </a:r>
            <a:endParaRPr lang="en-US" sz="2400" dirty="0"/>
          </a:p>
        </p:txBody>
      </p:sp>
      <p:sp>
        <p:nvSpPr>
          <p:cNvPr id="35" name="Text 28"/>
          <p:cNvSpPr txBox="1"/>
          <p:nvPr/>
        </p:nvSpPr>
        <p:spPr>
          <a:xfrm>
            <a:off x="2560320" y="4087368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customer, sales, transit, branch</a:t>
            </a:r>
            <a:endParaRPr lang="en-US" sz="1100" dirty="0"/>
          </a:p>
        </p:txBody>
      </p:sp>
      <p:sp>
        <p:nvSpPr>
          <p:cNvPr id="36" name="Text 29"/>
          <p:cNvSpPr txBox="1"/>
          <p:nvPr/>
        </p:nvSpPr>
        <p:spPr>
          <a:xfrm>
            <a:off x="4663440" y="3611880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A1F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2-3 visits</a:t>
            </a:r>
            <a:endParaRPr lang="en-US" sz="2400" dirty="0"/>
          </a:p>
        </p:txBody>
      </p:sp>
      <p:sp>
        <p:nvSpPr>
          <p:cNvPr id="37" name="Text 30"/>
          <p:cNvSpPr txBox="1"/>
          <p:nvPr/>
        </p:nvSpPr>
        <p:spPr>
          <a:xfrm>
            <a:off x="4663440" y="4087368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the customer per case</a:t>
            </a:r>
            <a:endParaRPr lang="en-US" sz="1100" dirty="0"/>
          </a:p>
        </p:txBody>
      </p:sp>
      <p:sp>
        <p:nvSpPr>
          <p:cNvPr id="38" name="Text 31"/>
          <p:cNvSpPr txBox="1"/>
          <p:nvPr/>
        </p:nvSpPr>
        <p:spPr>
          <a:xfrm>
            <a:off x="6766560" y="3611880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A1F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visibility</a:t>
            </a:r>
            <a:endParaRPr lang="en-US" sz="2400" dirty="0"/>
          </a:p>
        </p:txBody>
      </p:sp>
      <p:sp>
        <p:nvSpPr>
          <p:cNvPr id="39" name="Text 32"/>
          <p:cNvSpPr txBox="1"/>
          <p:nvPr/>
        </p:nvSpPr>
        <p:spPr>
          <a:xfrm>
            <a:off x="6766560" y="4087368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status until papers arrive</a:t>
            </a:r>
            <a:endParaRPr lang="en-US" sz="1100" dirty="0"/>
          </a:p>
        </p:txBody>
      </p:sp>
      <p:sp>
        <p:nvSpPr>
          <p:cNvPr id="40" name="Text 33"/>
          <p:cNvSpPr txBox="1"/>
          <p:nvPr/>
        </p:nvSpPr>
        <p:spPr>
          <a:xfrm>
            <a:off x="457200" y="4828032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Missing-document automation  |  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A1F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the delay is costing us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786384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cost is not only time: it is revenue, sales capacity and customer trust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4023360" cy="960120"/>
          </a:xfrm>
          <a:prstGeom prst="roundRect">
            <a:avLst>
              <a:gd name="adj" fmla="val 7619"/>
            </a:avLst>
          </a:prstGeom>
          <a:solidFill>
            <a:srgbClr val="F1F4F9"/>
          </a:solidFill>
          <a:ln w="12700">
            <a:solidFill>
              <a:srgbClr val="F1F4F9"/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640080" y="1481328"/>
            <a:ext cx="548640" cy="548640"/>
          </a:xfrm>
          <a:prstGeom prst="ellipse">
            <a:avLst/>
          </a:prstGeom>
          <a:solidFill>
            <a:srgbClr val="F6EDCF"/>
          </a:solidFill>
          <a:ln w="12700">
            <a:solidFill>
              <a:srgbClr val="F6EDCF"/>
            </a:solidFill>
            <a:prstDash val="solid"/>
          </a:ln>
        </p:spPr>
        <p:txBody>
          <a:bodyPr/>
          <a:p/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1754" y="1613002"/>
            <a:ext cx="285293" cy="285293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353312" y="1399032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Slow disbursal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1353312" y="1691640"/>
            <a:ext cx="3017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Sanctioned loans wait a week or more; interest income and customer momentum are lost.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4663440" y="1280160"/>
            <a:ext cx="4023360" cy="960120"/>
          </a:xfrm>
          <a:prstGeom prst="roundRect">
            <a:avLst>
              <a:gd name="adj" fmla="val 7619"/>
            </a:avLst>
          </a:prstGeom>
          <a:solidFill>
            <a:srgbClr val="F1F4F9"/>
          </a:solidFill>
          <a:ln w="12700">
            <a:solidFill>
              <a:srgbClr val="F1F4F9"/>
            </a:solidFill>
            <a:prstDash val="solid"/>
          </a:ln>
        </p:spPr>
        <p:txBody>
          <a:bodyPr/>
          <a:p/>
        </p:txBody>
      </p:sp>
      <p:sp>
        <p:nvSpPr>
          <p:cNvPr id="10" name="Shape 7"/>
          <p:cNvSpPr/>
          <p:nvPr/>
        </p:nvSpPr>
        <p:spPr>
          <a:xfrm>
            <a:off x="4846320" y="1481328"/>
            <a:ext cx="548640" cy="548640"/>
          </a:xfrm>
          <a:prstGeom prst="ellipse">
            <a:avLst/>
          </a:prstGeom>
          <a:solidFill>
            <a:srgbClr val="F6EDCF"/>
          </a:solidFill>
          <a:ln w="12700">
            <a:solidFill>
              <a:srgbClr val="F6EDCF"/>
            </a:solidFill>
            <a:prstDash val="solid"/>
          </a:ln>
        </p:spPr>
        <p:txBody>
          <a:bodyPr/>
          <a:p/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77994" y="1613002"/>
            <a:ext cx="285293" cy="285293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5559552" y="1399032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used as couriers</a:t>
            </a:r>
            <a:endParaRPr lang="en-US" sz="1400" dirty="0"/>
          </a:p>
        </p:txBody>
      </p:sp>
      <p:sp>
        <p:nvSpPr>
          <p:cNvPr id="13" name="Text 9"/>
          <p:cNvSpPr txBox="1"/>
          <p:nvPr/>
        </p:nvSpPr>
        <p:spPr>
          <a:xfrm>
            <a:off x="5559552" y="1691640"/>
            <a:ext cx="3017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Relationship managers travel to collect papers instead of sourcing new business.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457200" y="2395728"/>
            <a:ext cx="4023360" cy="960120"/>
          </a:xfrm>
          <a:prstGeom prst="roundRect">
            <a:avLst>
              <a:gd name="adj" fmla="val 7619"/>
            </a:avLst>
          </a:prstGeom>
          <a:solidFill>
            <a:srgbClr val="F1F4F9"/>
          </a:solidFill>
          <a:ln w="12700">
            <a:solidFill>
              <a:srgbClr val="F1F4F9"/>
            </a:solidFill>
            <a:prstDash val="solid"/>
          </a:ln>
        </p:spPr>
        <p:txBody>
          <a:bodyPr/>
          <a:p/>
        </p:txBody>
      </p:sp>
      <p:sp>
        <p:nvSpPr>
          <p:cNvPr id="15" name="Shape 11"/>
          <p:cNvSpPr/>
          <p:nvPr/>
        </p:nvSpPr>
        <p:spPr>
          <a:xfrm>
            <a:off x="640080" y="2596896"/>
            <a:ext cx="548640" cy="548640"/>
          </a:xfrm>
          <a:prstGeom prst="ellipse">
            <a:avLst/>
          </a:prstGeom>
          <a:solidFill>
            <a:srgbClr val="F6EDCF"/>
          </a:solidFill>
          <a:ln w="12700">
            <a:solidFill>
              <a:srgbClr val="F6EDCF"/>
            </a:solidFill>
            <a:prstDash val="solid"/>
          </a:ln>
        </p:spPr>
        <p:txBody>
          <a:bodyPr/>
          <a:p/>
        </p:txBody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1754" y="2728570"/>
            <a:ext cx="285293" cy="285293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1353312" y="251460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Rework every cycle</a:t>
            </a:r>
            <a:endParaRPr lang="en-US" sz="1400" dirty="0"/>
          </a:p>
        </p:txBody>
      </p:sp>
      <p:sp>
        <p:nvSpPr>
          <p:cNvPr id="18" name="Text 13"/>
          <p:cNvSpPr txBox="1"/>
          <p:nvPr/>
        </p:nvSpPr>
        <p:spPr>
          <a:xfrm>
            <a:off x="1353312" y="2807208"/>
            <a:ext cx="3017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Branch Ops checks the same file 2-3 times; errors are found late, not at the source.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4663440" y="2395728"/>
            <a:ext cx="4023360" cy="960120"/>
          </a:xfrm>
          <a:prstGeom prst="roundRect">
            <a:avLst>
              <a:gd name="adj" fmla="val 7619"/>
            </a:avLst>
          </a:prstGeom>
          <a:solidFill>
            <a:srgbClr val="F1F4F9"/>
          </a:solidFill>
          <a:ln w="12700">
            <a:solidFill>
              <a:srgbClr val="F1F4F9"/>
            </a:solidFill>
            <a:prstDash val="solid"/>
          </a:ln>
        </p:spPr>
        <p:txBody>
          <a:bodyPr/>
          <a:p/>
        </p:txBody>
      </p:sp>
      <p:sp>
        <p:nvSpPr>
          <p:cNvPr id="20" name="Shape 15"/>
          <p:cNvSpPr/>
          <p:nvPr/>
        </p:nvSpPr>
        <p:spPr>
          <a:xfrm>
            <a:off x="4846320" y="2596896"/>
            <a:ext cx="548640" cy="548640"/>
          </a:xfrm>
          <a:prstGeom prst="ellipse">
            <a:avLst/>
          </a:prstGeom>
          <a:solidFill>
            <a:srgbClr val="F6EDCF"/>
          </a:solidFill>
          <a:ln w="12700">
            <a:solidFill>
              <a:srgbClr val="F6EDCF"/>
            </a:solidFill>
            <a:prstDash val="solid"/>
          </a:ln>
        </p:spPr>
        <p:txBody>
          <a:bodyPr/>
          <a:p/>
        </p:txBody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77994" y="2728570"/>
            <a:ext cx="285293" cy="285293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5559552" y="251460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drop-off</a:t>
            </a:r>
            <a:endParaRPr lang="en-US" sz="1400" dirty="0"/>
          </a:p>
        </p:txBody>
      </p:sp>
      <p:sp>
        <p:nvSpPr>
          <p:cNvPr id="23" name="Text 17"/>
          <p:cNvSpPr txBox="1"/>
          <p:nvPr/>
        </p:nvSpPr>
        <p:spPr>
          <a:xfrm>
            <a:off x="5559552" y="2807208"/>
            <a:ext cx="3017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Repeated calls and visits frustrate agri customers; some move to competitors.</a:t>
            </a:r>
            <a:endParaRPr lang="en-US" sz="1100" dirty="0"/>
          </a:p>
        </p:txBody>
      </p:sp>
      <p:sp>
        <p:nvSpPr>
          <p:cNvPr id="24" name="Shape 18"/>
          <p:cNvSpPr/>
          <p:nvPr/>
        </p:nvSpPr>
        <p:spPr>
          <a:xfrm>
            <a:off x="457200" y="3511296"/>
            <a:ext cx="4023360" cy="960120"/>
          </a:xfrm>
          <a:prstGeom prst="roundRect">
            <a:avLst>
              <a:gd name="adj" fmla="val 7619"/>
            </a:avLst>
          </a:prstGeom>
          <a:solidFill>
            <a:srgbClr val="F1F4F9"/>
          </a:solidFill>
          <a:ln w="12700">
            <a:solidFill>
              <a:srgbClr val="F1F4F9"/>
            </a:solidFill>
            <a:prstDash val="solid"/>
          </a:ln>
        </p:spPr>
        <p:txBody>
          <a:bodyPr/>
          <a:p/>
        </p:txBody>
      </p:sp>
      <p:sp>
        <p:nvSpPr>
          <p:cNvPr id="25" name="Shape 19"/>
          <p:cNvSpPr/>
          <p:nvPr/>
        </p:nvSpPr>
        <p:spPr>
          <a:xfrm>
            <a:off x="640080" y="3712464"/>
            <a:ext cx="548640" cy="548640"/>
          </a:xfrm>
          <a:prstGeom prst="ellipse">
            <a:avLst/>
          </a:prstGeom>
          <a:solidFill>
            <a:srgbClr val="F6EDCF"/>
          </a:solidFill>
          <a:ln w="12700">
            <a:solidFill>
              <a:srgbClr val="F6EDCF"/>
            </a:solidFill>
            <a:prstDash val="solid"/>
          </a:ln>
        </p:spPr>
        <p:txBody>
          <a:bodyPr/>
          <a:p/>
        </p:txBody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1754" y="3844138"/>
            <a:ext cx="285293" cy="285293"/>
          </a:xfrm>
          <a:prstGeom prst="rect">
            <a:avLst/>
          </a:prstGeom>
        </p:spPr>
      </p:pic>
      <p:sp>
        <p:nvSpPr>
          <p:cNvPr id="27" name="Text 20"/>
          <p:cNvSpPr txBox="1"/>
          <p:nvPr/>
        </p:nvSpPr>
        <p:spPr>
          <a:xfrm>
            <a:off x="1353312" y="3630168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tracking</a:t>
            </a:r>
            <a:endParaRPr lang="en-US" sz="1400" dirty="0"/>
          </a:p>
        </p:txBody>
      </p:sp>
      <p:sp>
        <p:nvSpPr>
          <p:cNvPr id="28" name="Text 21"/>
          <p:cNvSpPr txBox="1"/>
          <p:nvPr/>
        </p:nvSpPr>
        <p:spPr>
          <a:xfrm>
            <a:off x="1353312" y="3922776"/>
            <a:ext cx="3017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single view of which document is pending, with whom, or for how long.</a:t>
            </a:r>
            <a:endParaRPr lang="en-US" sz="1100" dirty="0"/>
          </a:p>
        </p:txBody>
      </p:sp>
      <p:sp>
        <p:nvSpPr>
          <p:cNvPr id="29" name="Shape 22"/>
          <p:cNvSpPr/>
          <p:nvPr/>
        </p:nvSpPr>
        <p:spPr>
          <a:xfrm>
            <a:off x="4663440" y="3511296"/>
            <a:ext cx="4023360" cy="960120"/>
          </a:xfrm>
          <a:prstGeom prst="roundRect">
            <a:avLst>
              <a:gd name="adj" fmla="val 7619"/>
            </a:avLst>
          </a:prstGeom>
          <a:solidFill>
            <a:srgbClr val="F1F4F9"/>
          </a:solidFill>
          <a:ln w="12700">
            <a:solidFill>
              <a:srgbClr val="F1F4F9"/>
            </a:solidFill>
            <a:prstDash val="solid"/>
          </a:ln>
        </p:spPr>
        <p:txBody>
          <a:bodyPr/>
          <a:p/>
        </p:txBody>
      </p:sp>
      <p:sp>
        <p:nvSpPr>
          <p:cNvPr id="30" name="Shape 23"/>
          <p:cNvSpPr/>
          <p:nvPr/>
        </p:nvSpPr>
        <p:spPr>
          <a:xfrm>
            <a:off x="4846320" y="3712464"/>
            <a:ext cx="548640" cy="548640"/>
          </a:xfrm>
          <a:prstGeom prst="ellipse">
            <a:avLst/>
          </a:prstGeom>
          <a:solidFill>
            <a:srgbClr val="F6EDCF"/>
          </a:solidFill>
          <a:ln w="12700">
            <a:solidFill>
              <a:srgbClr val="F6EDCF"/>
            </a:solidFill>
            <a:prstDash val="solid"/>
          </a:ln>
        </p:spPr>
        <p:txBody>
          <a:bodyPr/>
          <a:p/>
        </p:txBody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77994" y="3844138"/>
            <a:ext cx="285293" cy="285293"/>
          </a:xfrm>
          <a:prstGeom prst="rect">
            <a:avLst/>
          </a:prstGeom>
        </p:spPr>
      </p:pic>
      <p:sp>
        <p:nvSpPr>
          <p:cNvPr id="32" name="Text 24"/>
          <p:cNvSpPr txBox="1"/>
          <p:nvPr/>
        </p:nvSpPr>
        <p:spPr>
          <a:xfrm>
            <a:off x="5559552" y="3630168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Physical document risk</a:t>
            </a:r>
            <a:endParaRPr lang="en-US" sz="1400" dirty="0"/>
          </a:p>
        </p:txBody>
      </p:sp>
      <p:sp>
        <p:nvSpPr>
          <p:cNvPr id="33" name="Text 25"/>
          <p:cNvSpPr txBox="1"/>
          <p:nvPr/>
        </p:nvSpPr>
        <p:spPr>
          <a:xfrm>
            <a:off x="5559552" y="3922776"/>
            <a:ext cx="3017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 changes hands several times; risk of loss, misplacement and audit gaps.</a:t>
            </a:r>
            <a:endParaRPr lang="en-US" sz="1100" dirty="0"/>
          </a:p>
        </p:txBody>
      </p:sp>
      <p:sp>
        <p:nvSpPr>
          <p:cNvPr id="34" name="Text 26"/>
          <p:cNvSpPr txBox="1"/>
          <p:nvPr/>
        </p:nvSpPr>
        <p:spPr>
          <a:xfrm>
            <a:off x="457200" y="4828032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Missing-document automation  |  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A1F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Proposed: upload once, verified in minutes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786384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customer or sales uploads on a secure web page; the system checks and replies instantly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1481328" cy="2331720"/>
          </a:xfrm>
          <a:prstGeom prst="roundRect">
            <a:avLst>
              <a:gd name="adj" fmla="val 4938"/>
            </a:avLst>
          </a:prstGeom>
          <a:solidFill>
            <a:srgbClr val="F1F4F9"/>
          </a:solidFill>
          <a:ln w="12700">
            <a:solidFill>
              <a:srgbClr val="F1F4F9"/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877824" y="1481328"/>
            <a:ext cx="640080" cy="640080"/>
          </a:xfrm>
          <a:prstGeom prst="ellipse">
            <a:avLst/>
          </a:prstGeom>
          <a:solidFill>
            <a:srgbClr val="0A1F44"/>
          </a:solidFill>
          <a:ln w="12700">
            <a:solidFill>
              <a:srgbClr val="0A1F44"/>
            </a:solidFill>
            <a:prstDash val="solid"/>
          </a:ln>
        </p:spPr>
        <p:txBody>
          <a:bodyPr/>
          <a:p/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1443" y="1634947"/>
            <a:ext cx="332842" cy="332842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530352" y="2194560"/>
            <a:ext cx="13350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Auto-alert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566928" y="2542032"/>
            <a:ext cx="1261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gets a secure SMS / WhatsApp link listing exactly which documents are missing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1956816" y="1801368"/>
            <a:ext cx="173736" cy="0"/>
          </a:xfrm>
          <a:prstGeom prst="line">
            <a:avLst/>
          </a:prstGeom>
          <a:noFill/>
          <a:ln w="25400">
            <a:solidFill>
              <a:srgbClr val="C9A227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10" name="Shape 7"/>
          <p:cNvSpPr/>
          <p:nvPr/>
        </p:nvSpPr>
        <p:spPr>
          <a:xfrm>
            <a:off x="2148840" y="1325880"/>
            <a:ext cx="1481328" cy="2331720"/>
          </a:xfrm>
          <a:prstGeom prst="roundRect">
            <a:avLst>
              <a:gd name="adj" fmla="val 4938"/>
            </a:avLst>
          </a:prstGeom>
          <a:solidFill>
            <a:srgbClr val="F1F4F9"/>
          </a:solidFill>
          <a:ln w="12700">
            <a:solidFill>
              <a:srgbClr val="F1F4F9"/>
            </a:solidFill>
            <a:prstDash val="solid"/>
          </a:ln>
        </p:spPr>
        <p:txBody>
          <a:bodyPr/>
          <a:p/>
        </p:txBody>
      </p:sp>
      <p:sp>
        <p:nvSpPr>
          <p:cNvPr id="11" name="Shape 8"/>
          <p:cNvSpPr/>
          <p:nvPr/>
        </p:nvSpPr>
        <p:spPr>
          <a:xfrm>
            <a:off x="2569464" y="1481328"/>
            <a:ext cx="640080" cy="640080"/>
          </a:xfrm>
          <a:prstGeom prst="ellipse">
            <a:avLst/>
          </a:prstGeom>
          <a:solidFill>
            <a:srgbClr val="0A1F44"/>
          </a:solidFill>
          <a:ln w="12700">
            <a:solidFill>
              <a:srgbClr val="0A1F44"/>
            </a:solidFill>
            <a:prstDash val="solid"/>
          </a:ln>
        </p:spPr>
        <p:txBody>
          <a:bodyPr/>
          <a:p/>
        </p:txBody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23083" y="1634947"/>
            <a:ext cx="332842" cy="332842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2221992" y="2194560"/>
            <a:ext cx="13350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Upload</a:t>
            </a:r>
            <a:endParaRPr lang="en-US" sz="1300" dirty="0"/>
          </a:p>
        </p:txBody>
      </p:sp>
      <p:sp>
        <p:nvSpPr>
          <p:cNvPr id="14" name="Text 10"/>
          <p:cNvSpPr txBox="1"/>
          <p:nvPr/>
        </p:nvSpPr>
        <p:spPr>
          <a:xfrm>
            <a:off x="2258568" y="2542032"/>
            <a:ext cx="1261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(or sales, assisted) uploads photos or PDFs from any phone, no branch visit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3648456" y="1801368"/>
            <a:ext cx="173736" cy="0"/>
          </a:xfrm>
          <a:prstGeom prst="line">
            <a:avLst/>
          </a:prstGeom>
          <a:noFill/>
          <a:ln w="25400">
            <a:solidFill>
              <a:srgbClr val="C9A227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16" name="Shape 12"/>
          <p:cNvSpPr/>
          <p:nvPr/>
        </p:nvSpPr>
        <p:spPr>
          <a:xfrm>
            <a:off x="3840480" y="1325880"/>
            <a:ext cx="1481328" cy="2331720"/>
          </a:xfrm>
          <a:prstGeom prst="roundRect">
            <a:avLst>
              <a:gd name="adj" fmla="val 4938"/>
            </a:avLst>
          </a:prstGeom>
          <a:solidFill>
            <a:srgbClr val="F6EDCF"/>
          </a:solidFill>
          <a:ln w="12700">
            <a:solidFill>
              <a:srgbClr val="F6EDCF"/>
            </a:solidFill>
            <a:prstDash val="solid"/>
          </a:ln>
        </p:spPr>
        <p:txBody>
          <a:bodyPr/>
          <a:p/>
        </p:txBody>
      </p:sp>
      <p:sp>
        <p:nvSpPr>
          <p:cNvPr id="17" name="Shape 13"/>
          <p:cNvSpPr/>
          <p:nvPr/>
        </p:nvSpPr>
        <p:spPr>
          <a:xfrm>
            <a:off x="4261104" y="1481328"/>
            <a:ext cx="640080" cy="640080"/>
          </a:xfrm>
          <a:prstGeom prst="ellipse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  <p:txBody>
          <a:bodyPr/>
          <a:p/>
        </p:txBody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14723" y="1634947"/>
            <a:ext cx="332842" cy="332842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3913632" y="2194560"/>
            <a:ext cx="13350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OCR + AI check</a:t>
            </a:r>
            <a:endParaRPr lang="en-US" sz="1300" dirty="0"/>
          </a:p>
        </p:txBody>
      </p:sp>
      <p:sp>
        <p:nvSpPr>
          <p:cNvPr id="20" name="Text 15"/>
          <p:cNvSpPr txBox="1"/>
          <p:nvPr/>
        </p:nvSpPr>
        <p:spPr>
          <a:xfrm>
            <a:off x="3950208" y="2542032"/>
            <a:ext cx="1261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document is read, classified and matched with loan data in seconds</a:t>
            </a:r>
            <a:endParaRPr lang="en-US" sz="1100" dirty="0"/>
          </a:p>
        </p:txBody>
      </p:sp>
      <p:sp>
        <p:nvSpPr>
          <p:cNvPr id="21" name="Shape 16"/>
          <p:cNvSpPr/>
          <p:nvPr/>
        </p:nvSpPr>
        <p:spPr>
          <a:xfrm>
            <a:off x="5340096" y="1801368"/>
            <a:ext cx="173736" cy="0"/>
          </a:xfrm>
          <a:prstGeom prst="line">
            <a:avLst/>
          </a:prstGeom>
          <a:noFill/>
          <a:ln w="25400">
            <a:solidFill>
              <a:srgbClr val="C9A227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22" name="Shape 17"/>
          <p:cNvSpPr/>
          <p:nvPr/>
        </p:nvSpPr>
        <p:spPr>
          <a:xfrm>
            <a:off x="5532120" y="1325880"/>
            <a:ext cx="1481328" cy="2331720"/>
          </a:xfrm>
          <a:prstGeom prst="roundRect">
            <a:avLst>
              <a:gd name="adj" fmla="val 4938"/>
            </a:avLst>
          </a:prstGeom>
          <a:solidFill>
            <a:srgbClr val="F1F4F9"/>
          </a:solidFill>
          <a:ln w="12700">
            <a:solidFill>
              <a:srgbClr val="F1F4F9"/>
            </a:solidFill>
            <a:prstDash val="solid"/>
          </a:ln>
        </p:spPr>
        <p:txBody>
          <a:bodyPr/>
          <a:p/>
        </p:txBody>
      </p:sp>
      <p:sp>
        <p:nvSpPr>
          <p:cNvPr id="23" name="Shape 18"/>
          <p:cNvSpPr/>
          <p:nvPr/>
        </p:nvSpPr>
        <p:spPr>
          <a:xfrm>
            <a:off x="5952744" y="1481328"/>
            <a:ext cx="640080" cy="640080"/>
          </a:xfrm>
          <a:prstGeom prst="ellipse">
            <a:avLst/>
          </a:prstGeom>
          <a:solidFill>
            <a:srgbClr val="0A1F44"/>
          </a:solidFill>
          <a:ln w="12700">
            <a:solidFill>
              <a:srgbClr val="0A1F44"/>
            </a:solidFill>
            <a:prstDash val="solid"/>
          </a:ln>
        </p:spPr>
        <p:txBody>
          <a:bodyPr/>
          <a:p/>
        </p:txBody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06363" y="1634947"/>
            <a:ext cx="332842" cy="332842"/>
          </a:xfrm>
          <a:prstGeom prst="rect">
            <a:avLst/>
          </a:prstGeom>
        </p:spPr>
      </p:pic>
      <p:sp>
        <p:nvSpPr>
          <p:cNvPr id="25" name="Text 19"/>
          <p:cNvSpPr txBox="1"/>
          <p:nvPr/>
        </p:nvSpPr>
        <p:spPr>
          <a:xfrm>
            <a:off x="5605272" y="2194560"/>
            <a:ext cx="13350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Instant feedback</a:t>
            </a:r>
            <a:endParaRPr lang="en-US" sz="1300" dirty="0"/>
          </a:p>
        </p:txBody>
      </p:sp>
      <p:sp>
        <p:nvSpPr>
          <p:cNvPr id="26" name="Text 20"/>
          <p:cNvSpPr txBox="1"/>
          <p:nvPr/>
        </p:nvSpPr>
        <p:spPr>
          <a:xfrm>
            <a:off x="5641848" y="2542032"/>
            <a:ext cx="1261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Blurry, wrong or mismatched? Customer is told why and re-uploads on the spot</a:t>
            </a:r>
            <a:endParaRPr lang="en-US" sz="1100" dirty="0"/>
          </a:p>
        </p:txBody>
      </p:sp>
      <p:sp>
        <p:nvSpPr>
          <p:cNvPr id="27" name="Shape 21"/>
          <p:cNvSpPr/>
          <p:nvPr/>
        </p:nvSpPr>
        <p:spPr>
          <a:xfrm>
            <a:off x="7031736" y="1801368"/>
            <a:ext cx="173736" cy="0"/>
          </a:xfrm>
          <a:prstGeom prst="line">
            <a:avLst/>
          </a:prstGeom>
          <a:noFill/>
          <a:ln w="25400">
            <a:solidFill>
              <a:srgbClr val="C9A227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28" name="Shape 22"/>
          <p:cNvSpPr/>
          <p:nvPr/>
        </p:nvSpPr>
        <p:spPr>
          <a:xfrm>
            <a:off x="7223760" y="1325880"/>
            <a:ext cx="1481328" cy="2331720"/>
          </a:xfrm>
          <a:prstGeom prst="roundRect">
            <a:avLst>
              <a:gd name="adj" fmla="val 4938"/>
            </a:avLst>
          </a:prstGeom>
          <a:solidFill>
            <a:srgbClr val="F1F4F9"/>
          </a:solidFill>
          <a:ln w="12700">
            <a:solidFill>
              <a:srgbClr val="F1F4F9"/>
            </a:solidFill>
            <a:prstDash val="solid"/>
          </a:ln>
        </p:spPr>
        <p:txBody>
          <a:bodyPr/>
          <a:p/>
        </p:txBody>
      </p:sp>
      <p:sp>
        <p:nvSpPr>
          <p:cNvPr id="29" name="Shape 23"/>
          <p:cNvSpPr/>
          <p:nvPr/>
        </p:nvSpPr>
        <p:spPr>
          <a:xfrm>
            <a:off x="7644384" y="1481328"/>
            <a:ext cx="640080" cy="640080"/>
          </a:xfrm>
          <a:prstGeom prst="ellipse">
            <a:avLst/>
          </a:prstGeom>
          <a:solidFill>
            <a:srgbClr val="0A1F44"/>
          </a:solidFill>
          <a:ln w="12700">
            <a:solidFill>
              <a:srgbClr val="0A1F44"/>
            </a:solidFill>
            <a:prstDash val="solid"/>
          </a:ln>
        </p:spPr>
        <p:txBody>
          <a:bodyPr/>
          <a:p/>
        </p:txBody>
      </p:sp>
      <p:pic>
        <p:nvPicPr>
          <p:cNvPr id="3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98003" y="1634947"/>
            <a:ext cx="332842" cy="332842"/>
          </a:xfrm>
          <a:prstGeom prst="rect">
            <a:avLst/>
          </a:prstGeom>
        </p:spPr>
      </p:pic>
      <p:sp>
        <p:nvSpPr>
          <p:cNvPr id="31" name="Text 24"/>
          <p:cNvSpPr txBox="1"/>
          <p:nvPr/>
        </p:nvSpPr>
        <p:spPr>
          <a:xfrm>
            <a:off x="7296912" y="2194560"/>
            <a:ext cx="13350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Exception review</a:t>
            </a:r>
            <a:endParaRPr lang="en-US" sz="1300" dirty="0"/>
          </a:p>
        </p:txBody>
      </p:sp>
      <p:sp>
        <p:nvSpPr>
          <p:cNvPr id="32" name="Text 25"/>
          <p:cNvSpPr txBox="1"/>
          <p:nvPr/>
        </p:nvSpPr>
        <p:spPr>
          <a:xfrm>
            <a:off x="7333488" y="2542032"/>
            <a:ext cx="1261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Branch Ops reviews only flagged items; clean files move straight to disbursal</a:t>
            </a:r>
            <a:endParaRPr lang="en-US" sz="1100" dirty="0"/>
          </a:p>
        </p:txBody>
      </p:sp>
      <p:sp>
        <p:nvSpPr>
          <p:cNvPr id="33" name="Shape 26"/>
          <p:cNvSpPr/>
          <p:nvPr/>
        </p:nvSpPr>
        <p:spPr>
          <a:xfrm>
            <a:off x="457200" y="3886200"/>
            <a:ext cx="8229600" cy="685800"/>
          </a:xfrm>
          <a:prstGeom prst="roundRect">
            <a:avLst>
              <a:gd name="adj" fmla="val 10667"/>
            </a:avLst>
          </a:prstGeom>
          <a:solidFill>
            <a:srgbClr val="0A1F44"/>
          </a:solidFill>
          <a:ln w="12700">
            <a:solidFill>
              <a:srgbClr val="0A1F44"/>
            </a:solidFill>
            <a:prstDash val="solid"/>
          </a:ln>
        </p:spPr>
        <p:txBody>
          <a:bodyPr/>
          <a:p/>
        </p:txBody>
      </p:sp>
      <p:sp>
        <p:nvSpPr>
          <p:cNvPr id="34" name="Text 27"/>
          <p:cNvSpPr txBox="1"/>
          <p:nvPr/>
        </p:nvSpPr>
        <p:spPr>
          <a:xfrm>
            <a:off x="685800" y="3931920"/>
            <a:ext cx="7772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</a:t>
            </a:r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interaction, verification and re-submission all happen in the same session, so the file is complete the same day.</a:t>
            </a:r>
            <a:endParaRPr lang="en-US" sz="1350" dirty="0"/>
          </a:p>
        </p:txBody>
      </p:sp>
      <p:sp>
        <p:nvSpPr>
          <p:cNvPr id="35" name="Text 28"/>
          <p:cNvSpPr txBox="1"/>
          <p:nvPr/>
        </p:nvSpPr>
        <p:spPr>
          <a:xfrm>
            <a:off x="457200" y="4828032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Missing-document automation  |  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A1F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Turnaround: 7+ days becomes same day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786384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the time goes, today versus the automated flow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2103120" y="1124712"/>
            <a:ext cx="94052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2103120" y="1371600"/>
            <a:ext cx="0" cy="2834640"/>
          </a:xfrm>
          <a:prstGeom prst="line">
            <a:avLst/>
          </a:prstGeom>
          <a:noFill/>
          <a:ln w="12700">
            <a:solidFill>
              <a:srgbClr val="E4EAF3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 txBox="1"/>
          <p:nvPr/>
        </p:nvSpPr>
        <p:spPr>
          <a:xfrm>
            <a:off x="3043646" y="1124712"/>
            <a:ext cx="94052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043646" y="1371600"/>
            <a:ext cx="0" cy="2834640"/>
          </a:xfrm>
          <a:prstGeom prst="line">
            <a:avLst/>
          </a:prstGeom>
          <a:noFill/>
          <a:ln w="12700">
            <a:solidFill>
              <a:srgbClr val="E4EAF3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 txBox="1"/>
          <p:nvPr/>
        </p:nvSpPr>
        <p:spPr>
          <a:xfrm>
            <a:off x="3984171" y="1124712"/>
            <a:ext cx="94052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984171" y="1371600"/>
            <a:ext cx="0" cy="2834640"/>
          </a:xfrm>
          <a:prstGeom prst="line">
            <a:avLst/>
          </a:prstGeom>
          <a:noFill/>
          <a:ln w="12700">
            <a:solidFill>
              <a:srgbClr val="E4EAF3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 txBox="1"/>
          <p:nvPr/>
        </p:nvSpPr>
        <p:spPr>
          <a:xfrm>
            <a:off x="4924697" y="1124712"/>
            <a:ext cx="94052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4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924697" y="1371600"/>
            <a:ext cx="0" cy="2834640"/>
          </a:xfrm>
          <a:prstGeom prst="line">
            <a:avLst/>
          </a:prstGeom>
          <a:noFill/>
          <a:ln w="12700">
            <a:solidFill>
              <a:srgbClr val="E4EAF3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 txBox="1"/>
          <p:nvPr/>
        </p:nvSpPr>
        <p:spPr>
          <a:xfrm>
            <a:off x="5865223" y="1124712"/>
            <a:ext cx="94052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5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865223" y="1371600"/>
            <a:ext cx="0" cy="2834640"/>
          </a:xfrm>
          <a:prstGeom prst="line">
            <a:avLst/>
          </a:prstGeom>
          <a:noFill/>
          <a:ln w="12700">
            <a:solidFill>
              <a:srgbClr val="E4EAF3"/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 txBox="1"/>
          <p:nvPr/>
        </p:nvSpPr>
        <p:spPr>
          <a:xfrm>
            <a:off x="6805749" y="1124712"/>
            <a:ext cx="94052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6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805749" y="1371600"/>
            <a:ext cx="0" cy="2834640"/>
          </a:xfrm>
          <a:prstGeom prst="line">
            <a:avLst/>
          </a:prstGeom>
          <a:noFill/>
          <a:ln w="12700">
            <a:solidFill>
              <a:srgbClr val="E4EAF3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 txBox="1"/>
          <p:nvPr/>
        </p:nvSpPr>
        <p:spPr>
          <a:xfrm>
            <a:off x="7746274" y="1124712"/>
            <a:ext cx="94052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7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7746274" y="1371600"/>
            <a:ext cx="0" cy="2834640"/>
          </a:xfrm>
          <a:prstGeom prst="line">
            <a:avLst/>
          </a:prstGeom>
          <a:noFill/>
          <a:ln w="12700">
            <a:solidFill>
              <a:srgbClr val="E4EAF3"/>
            </a:solidFill>
            <a:prstDash val="solid"/>
          </a:ln>
        </p:spPr>
        <p:txBody>
          <a:bodyPr/>
          <a:p/>
        </p:txBody>
      </p:sp>
      <p:sp>
        <p:nvSpPr>
          <p:cNvPr id="18" name="Text 16"/>
          <p:cNvSpPr txBox="1"/>
          <p:nvPr/>
        </p:nvSpPr>
        <p:spPr>
          <a:xfrm>
            <a:off x="457200" y="141732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326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2121408" y="1709928"/>
            <a:ext cx="903950" cy="219456"/>
          </a:xfrm>
          <a:prstGeom prst="roundRect">
            <a:avLst>
              <a:gd name="adj" fmla="val 20833"/>
            </a:avLst>
          </a:prstGeom>
          <a:solidFill>
            <a:srgbClr val="B3261E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20" name="Text 18"/>
          <p:cNvSpPr txBox="1"/>
          <p:nvPr/>
        </p:nvSpPr>
        <p:spPr>
          <a:xfrm>
            <a:off x="457200" y="1709928"/>
            <a:ext cx="1600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 found, sales informed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3061934" y="1984248"/>
            <a:ext cx="1374213" cy="219456"/>
          </a:xfrm>
          <a:prstGeom prst="roundRect">
            <a:avLst>
              <a:gd name="adj" fmla="val 20833"/>
            </a:avLst>
          </a:prstGeom>
          <a:solidFill>
            <a:srgbClr val="D98C86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22" name="Text 20"/>
          <p:cNvSpPr txBox="1"/>
          <p:nvPr/>
        </p:nvSpPr>
        <p:spPr>
          <a:xfrm>
            <a:off x="457200" y="1984248"/>
            <a:ext cx="1600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visit &amp; collect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4472722" y="2258568"/>
            <a:ext cx="903950" cy="219456"/>
          </a:xfrm>
          <a:prstGeom prst="roundRect">
            <a:avLst>
              <a:gd name="adj" fmla="val 20833"/>
            </a:avLst>
          </a:prstGeom>
          <a:solidFill>
            <a:srgbClr val="B3261E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24" name="Text 22"/>
          <p:cNvSpPr txBox="1"/>
          <p:nvPr/>
        </p:nvSpPr>
        <p:spPr>
          <a:xfrm>
            <a:off x="457200" y="2258568"/>
            <a:ext cx="1600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Transit to branch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5413248" y="2532888"/>
            <a:ext cx="903950" cy="219456"/>
          </a:xfrm>
          <a:prstGeom prst="roundRect">
            <a:avLst>
              <a:gd name="adj" fmla="val 20833"/>
            </a:avLst>
          </a:prstGeom>
          <a:solidFill>
            <a:srgbClr val="D98C86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26" name="Text 24"/>
          <p:cNvSpPr txBox="1"/>
          <p:nvPr/>
        </p:nvSpPr>
        <p:spPr>
          <a:xfrm>
            <a:off x="457200" y="2532888"/>
            <a:ext cx="1600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Validation, gaps again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6353774" y="2807208"/>
            <a:ext cx="2314738" cy="219456"/>
          </a:xfrm>
          <a:prstGeom prst="roundRect">
            <a:avLst>
              <a:gd name="adj" fmla="val 20833"/>
            </a:avLst>
          </a:prstGeom>
          <a:solidFill>
            <a:srgbClr val="B3261E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28" name="Text 26"/>
          <p:cNvSpPr txBox="1"/>
          <p:nvPr/>
        </p:nvSpPr>
        <p:spPr>
          <a:xfrm>
            <a:off x="457200" y="2807208"/>
            <a:ext cx="1600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 visit &amp; re-check</a:t>
            </a:r>
            <a:endParaRPr lang="en-US" sz="950" dirty="0"/>
          </a:p>
        </p:txBody>
      </p:sp>
      <p:sp>
        <p:nvSpPr>
          <p:cNvPr id="29" name="Text 27"/>
          <p:cNvSpPr txBox="1"/>
          <p:nvPr/>
        </p:nvSpPr>
        <p:spPr>
          <a:xfrm>
            <a:off x="457200" y="329184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7B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2121408" y="3584448"/>
            <a:ext cx="122791" cy="219456"/>
          </a:xfrm>
          <a:prstGeom prst="roundRect">
            <a:avLst>
              <a:gd name="adj" fmla="val 37234"/>
            </a:avLst>
          </a:prstGeom>
          <a:solidFill>
            <a:srgbClr val="1E7B4F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31" name="Text 29"/>
          <p:cNvSpPr txBox="1"/>
          <p:nvPr/>
        </p:nvSpPr>
        <p:spPr>
          <a:xfrm>
            <a:off x="457200" y="3584448"/>
            <a:ext cx="1600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 + upload + AI check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2262487" y="3858768"/>
            <a:ext cx="216843" cy="219456"/>
          </a:xfrm>
          <a:prstGeom prst="roundRect">
            <a:avLst>
              <a:gd name="adj" fmla="val 21084"/>
            </a:avLst>
          </a:prstGeom>
          <a:solidFill>
            <a:srgbClr val="1E7B4F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33" name="Text 31"/>
          <p:cNvSpPr txBox="1"/>
          <p:nvPr/>
        </p:nvSpPr>
        <p:spPr>
          <a:xfrm>
            <a:off x="457200" y="3858768"/>
            <a:ext cx="1600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Re-upload if flagged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2497618" y="4133088"/>
            <a:ext cx="451975" cy="219456"/>
          </a:xfrm>
          <a:prstGeom prst="roundRect">
            <a:avLst>
              <a:gd name="adj" fmla="val 20833"/>
            </a:avLst>
          </a:prstGeom>
          <a:solidFill>
            <a:srgbClr val="1E7B4F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35" name="Text 33"/>
          <p:cNvSpPr txBox="1"/>
          <p:nvPr/>
        </p:nvSpPr>
        <p:spPr>
          <a:xfrm>
            <a:off x="457200" y="4133088"/>
            <a:ext cx="1600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Branch exception review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3337560" y="3584448"/>
            <a:ext cx="5212080" cy="768096"/>
          </a:xfrm>
          <a:prstGeom prst="roundRect">
            <a:avLst>
              <a:gd name="adj" fmla="val 9524"/>
            </a:avLst>
          </a:prstGeom>
          <a:solidFill>
            <a:srgbClr val="F6EDCF"/>
          </a:solidFill>
          <a:ln w="12700">
            <a:solidFill>
              <a:srgbClr val="F6EDCF"/>
            </a:solidFill>
            <a:prstDash val="solid"/>
          </a:ln>
        </p:spPr>
        <p:txBody>
          <a:bodyPr/>
          <a:p/>
        </p:txBody>
      </p:sp>
      <p:sp>
        <p:nvSpPr>
          <p:cNvPr id="37" name="Text 35"/>
          <p:cNvSpPr txBox="1"/>
          <p:nvPr/>
        </p:nvSpPr>
        <p:spPr>
          <a:xfrm>
            <a:off x="3520440" y="3621024"/>
            <a:ext cx="489204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within 1 working day</a:t>
            </a:r>
            <a:endParaRPr lang="en-US" sz="1500" dirty="0"/>
          </a:p>
          <a:p>
            <a:pPr indent="0" marL="0">
              <a:buNone/>
            </a:pPr>
            <a:r>
              <a:rPr lang="en-US" sz="110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clean files close in under 2 hours; only flagged items wait for branch review.</a:t>
            </a:r>
            <a:endParaRPr lang="en-US" sz="1500" dirty="0"/>
          </a:p>
        </p:txBody>
      </p:sp>
      <p:sp>
        <p:nvSpPr>
          <p:cNvPr id="38" name="Text 36"/>
          <p:cNvSpPr txBox="1"/>
          <p:nvPr/>
        </p:nvSpPr>
        <p:spPr>
          <a:xfrm>
            <a:off x="457200" y="4828032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Missing-document automation  |  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A1F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Technical architecture: workflow view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786384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parent per agreement, one child per missing document, three review stages</a:t>
            </a:r>
            <a:endParaRPr lang="en-US" sz="1300" dirty="0"/>
          </a:p>
        </p:txBody>
      </p:sp>
      <p:sp>
        <p:nvSpPr>
          <p:cNvPr id="56" name="Text 40"/>
          <p:cNvSpPr txBox="1"/>
          <p:nvPr/>
        </p:nvSpPr>
        <p:spPr>
          <a:xfrm>
            <a:off x="457200" y="4828032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Missing-document automation  |  6</a:t>
            </a:r>
            <a:endParaRPr lang="en-US" sz="900" dirty="0"/>
          </a:p>
        </p:txBody>
      </p:sp>
      <p:pic>
        <p:nvPicPr>
          <p:cNvPr id="57" name="Picture 56" descr="arch_crop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145296" y="1188720"/>
            <a:ext cx="6853407" cy="352958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A1F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Customer upload portal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786384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Opened from the SMS link; shows only missing documents with photo or file upload</a:t>
            </a:r>
            <a:endParaRPr lang="en-US" sz="1300" dirty="0"/>
          </a:p>
        </p:txBody>
      </p:sp>
      <p:sp>
        <p:nvSpPr>
          <p:cNvPr id="56" name="Text 40"/>
          <p:cNvSpPr txBox="1"/>
          <p:nvPr/>
        </p:nvSpPr>
        <p:spPr>
          <a:xfrm>
            <a:off x="457200" y="4828032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Missing-document automation  |  7</a:t>
            </a:r>
            <a:endParaRPr lang="en-US" sz="900" dirty="0"/>
          </a:p>
        </p:txBody>
      </p:sp>
      <p:pic>
        <p:nvPicPr>
          <p:cNvPr id="57" name="Picture 56" descr="cust_crop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1175755" y="1188720"/>
            <a:ext cx="6792488" cy="3529584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A1F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Branch review portal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786384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Agreement list, document-level journey and where each document is pending</a:t>
            </a:r>
            <a:endParaRPr lang="en-US" sz="1300" dirty="0"/>
          </a:p>
        </p:txBody>
      </p:sp>
      <p:sp>
        <p:nvSpPr>
          <p:cNvPr id="56" name="Text 40"/>
          <p:cNvSpPr txBox="1"/>
          <p:nvPr/>
        </p:nvSpPr>
        <p:spPr>
          <a:xfrm>
            <a:off x="457200" y="4828032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Missing-document automation  |  8</a:t>
            </a:r>
            <a:endParaRPr lang="en-US" sz="900" dirty="0"/>
          </a:p>
        </p:txBody>
      </p:sp>
      <p:pic>
        <p:nvPicPr>
          <p:cNvPr id="57" name="Picture 56" descr="rev_crop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1393182" y="1188720"/>
            <a:ext cx="6357635" cy="3529584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A1F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automated verification decides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786384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document gets a confidence score; only uncertain cases reach a person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344168"/>
            <a:ext cx="502920" cy="502920"/>
          </a:xfrm>
          <a:prstGeom prst="ellipse">
            <a:avLst/>
          </a:prstGeom>
          <a:solidFill>
            <a:srgbClr val="0A1F44"/>
          </a:solidFill>
          <a:ln w="12700">
            <a:solidFill>
              <a:srgbClr val="0A1F44"/>
            </a:solidFill>
            <a:prstDash val="solid"/>
          </a:ln>
        </p:spPr>
        <p:txBody>
          <a:bodyPr/>
          <a:p/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7901" y="1464869"/>
            <a:ext cx="261518" cy="261518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097280" y="1298448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A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Readable?</a:t>
            </a:r>
            <a:endParaRPr lang="en-US" sz="1350" dirty="0"/>
          </a:p>
        </p:txBody>
      </p:sp>
      <p:sp>
        <p:nvSpPr>
          <p:cNvPr id="7" name="Text 4"/>
          <p:cNvSpPr txBox="1"/>
          <p:nvPr/>
        </p:nvSpPr>
        <p:spPr>
          <a:xfrm>
            <a:off x="1097280" y="1581912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quality, all pages present, not cropped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457200" y="2130552"/>
            <a:ext cx="502920" cy="502920"/>
          </a:xfrm>
          <a:prstGeom prst="ellipse">
            <a:avLst/>
          </a:prstGeom>
          <a:solidFill>
            <a:srgbClr val="0A1F44"/>
          </a:solidFill>
          <a:ln w="12700">
            <a:solidFill>
              <a:srgbClr val="0A1F44"/>
            </a:solidFill>
            <a:prstDash val="solid"/>
          </a:ln>
        </p:spPr>
        <p:txBody>
          <a:bodyPr/>
          <a:p/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7901" y="2251253"/>
            <a:ext cx="261518" cy="261518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1097280" y="2084832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A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Right document?</a:t>
            </a:r>
            <a:endParaRPr lang="en-US" sz="1350" dirty="0"/>
          </a:p>
        </p:txBody>
      </p:sp>
      <p:sp>
        <p:nvSpPr>
          <p:cNvPr id="11" name="Text 7"/>
          <p:cNvSpPr txBox="1"/>
          <p:nvPr/>
        </p:nvSpPr>
        <p:spPr>
          <a:xfrm>
            <a:off x="1097280" y="2368296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Classified as the requested type (land record, ID, bank statement)</a:t>
            </a:r>
            <a:endParaRPr lang="en-US" sz="1100" dirty="0"/>
          </a:p>
        </p:txBody>
      </p:sp>
      <p:sp>
        <p:nvSpPr>
          <p:cNvPr id="12" name="Shape 8"/>
          <p:cNvSpPr/>
          <p:nvPr/>
        </p:nvSpPr>
        <p:spPr>
          <a:xfrm>
            <a:off x="457200" y="2916936"/>
            <a:ext cx="502920" cy="502920"/>
          </a:xfrm>
          <a:prstGeom prst="ellipse">
            <a:avLst/>
          </a:prstGeom>
          <a:solidFill>
            <a:srgbClr val="0A1F44"/>
          </a:solidFill>
          <a:ln w="12700">
            <a:solidFill>
              <a:srgbClr val="0A1F44"/>
            </a:solidFill>
            <a:prstDash val="solid"/>
          </a:ln>
        </p:spPr>
        <p:txBody>
          <a:bodyPr/>
          <a:p/>
        </p:txBody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7901" y="3037637"/>
            <a:ext cx="261518" cy="261518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1097280" y="2871216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A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matches?</a:t>
            </a:r>
            <a:endParaRPr lang="en-US" sz="1350" dirty="0"/>
          </a:p>
        </p:txBody>
      </p:sp>
      <p:sp>
        <p:nvSpPr>
          <p:cNvPr id="15" name="Text 10"/>
          <p:cNvSpPr txBox="1"/>
          <p:nvPr/>
        </p:nvSpPr>
        <p:spPr>
          <a:xfrm>
            <a:off x="1097280" y="3154680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Name, ID, survey number and amounts match loan application</a:t>
            </a:r>
            <a:endParaRPr lang="en-US" sz="1100" dirty="0"/>
          </a:p>
        </p:txBody>
      </p:sp>
      <p:sp>
        <p:nvSpPr>
          <p:cNvPr id="16" name="Shape 11"/>
          <p:cNvSpPr/>
          <p:nvPr/>
        </p:nvSpPr>
        <p:spPr>
          <a:xfrm>
            <a:off x="457200" y="3703320"/>
            <a:ext cx="502920" cy="502920"/>
          </a:xfrm>
          <a:prstGeom prst="ellipse">
            <a:avLst/>
          </a:prstGeom>
          <a:solidFill>
            <a:srgbClr val="0A1F44"/>
          </a:solidFill>
          <a:ln w="12700">
            <a:solidFill>
              <a:srgbClr val="0A1F44"/>
            </a:solidFill>
            <a:prstDash val="solid"/>
          </a:ln>
        </p:spPr>
        <p:txBody>
          <a:bodyPr/>
          <a:p/>
        </p:txBody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7901" y="3824021"/>
            <a:ext cx="261518" cy="261518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1097280" y="365760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A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Genuine &amp; current?</a:t>
            </a:r>
            <a:endParaRPr lang="en-US" sz="1350" dirty="0"/>
          </a:p>
        </p:txBody>
      </p:sp>
      <p:sp>
        <p:nvSpPr>
          <p:cNvPr id="19" name="Text 13"/>
          <p:cNvSpPr txBox="1"/>
          <p:nvPr/>
        </p:nvSpPr>
        <p:spPr>
          <a:xfrm>
            <a:off x="1097280" y="3941064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Tamper signs, expiry and issue date checks</a:t>
            </a:r>
            <a:endParaRPr lang="en-US" sz="1100" dirty="0"/>
          </a:p>
        </p:txBody>
      </p:sp>
      <p:sp>
        <p:nvSpPr>
          <p:cNvPr id="20" name="Shape 14"/>
          <p:cNvSpPr/>
          <p:nvPr/>
        </p:nvSpPr>
        <p:spPr>
          <a:xfrm>
            <a:off x="4617720" y="1298448"/>
            <a:ext cx="4069080" cy="932688"/>
          </a:xfrm>
          <a:prstGeom prst="roundRect">
            <a:avLst>
              <a:gd name="adj" fmla="val 7843"/>
            </a:avLst>
          </a:prstGeom>
          <a:solidFill>
            <a:srgbClr val="F1F4F9"/>
          </a:solidFill>
          <a:ln w="12700">
            <a:solidFill>
              <a:srgbClr val="F1F4F9"/>
            </a:solidFill>
            <a:prstDash val="solid"/>
          </a:ln>
        </p:spPr>
        <p:txBody>
          <a:bodyPr/>
          <a:p/>
        </p:txBody>
      </p:sp>
      <p:sp>
        <p:nvSpPr>
          <p:cNvPr id="21" name="Shape 15"/>
          <p:cNvSpPr/>
          <p:nvPr/>
        </p:nvSpPr>
        <p:spPr>
          <a:xfrm>
            <a:off x="4773168" y="1481328"/>
            <a:ext cx="566928" cy="566928"/>
          </a:xfrm>
          <a:prstGeom prst="ellipse">
            <a:avLst/>
          </a:prstGeom>
          <a:solidFill>
            <a:srgbClr val="1E7B4F"/>
          </a:solidFill>
          <a:ln w="12700">
            <a:solidFill>
              <a:srgbClr val="1E7B4F"/>
            </a:solidFill>
            <a:prstDash val="solid"/>
          </a:ln>
        </p:spPr>
        <p:txBody>
          <a:bodyPr/>
          <a:p/>
        </p:txBody>
      </p:sp>
      <p:pic>
        <p:nvPicPr>
          <p:cNvPr id="2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09231" y="1617391"/>
            <a:ext cx="294803" cy="294803"/>
          </a:xfrm>
          <a:prstGeom prst="rect">
            <a:avLst/>
          </a:prstGeom>
        </p:spPr>
      </p:pic>
      <p:sp>
        <p:nvSpPr>
          <p:cNvPr id="23" name="Text 16"/>
          <p:cNvSpPr txBox="1"/>
          <p:nvPr/>
        </p:nvSpPr>
        <p:spPr>
          <a:xfrm>
            <a:off x="5532120" y="1389888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Auto-accept</a:t>
            </a:r>
            <a:endParaRPr lang="en-US" sz="1400" dirty="0"/>
          </a:p>
        </p:txBody>
      </p:sp>
      <p:sp>
        <p:nvSpPr>
          <p:cNvPr id="24" name="Text 17"/>
          <p:cNvSpPr txBox="1"/>
          <p:nvPr/>
        </p:nvSpPr>
        <p:spPr>
          <a:xfrm>
            <a:off x="5532120" y="1682496"/>
            <a:ext cx="3017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7B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confidence</a:t>
            </a:r>
            <a:endParaRPr lang="en-US" sz="1050" dirty="0"/>
          </a:p>
        </p:txBody>
      </p:sp>
      <p:sp>
        <p:nvSpPr>
          <p:cNvPr id="25" name="Text 18"/>
          <p:cNvSpPr txBox="1"/>
          <p:nvPr/>
        </p:nvSpPr>
        <p:spPr>
          <a:xfrm>
            <a:off x="5532120" y="1901952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Moves straight to disbursal checklist</a:t>
            </a:r>
            <a:endParaRPr lang="en-US" sz="1050" dirty="0"/>
          </a:p>
        </p:txBody>
      </p:sp>
      <p:sp>
        <p:nvSpPr>
          <p:cNvPr id="26" name="Shape 19"/>
          <p:cNvSpPr/>
          <p:nvPr/>
        </p:nvSpPr>
        <p:spPr>
          <a:xfrm>
            <a:off x="4617720" y="2395728"/>
            <a:ext cx="4069080" cy="932688"/>
          </a:xfrm>
          <a:prstGeom prst="roundRect">
            <a:avLst>
              <a:gd name="adj" fmla="val 7843"/>
            </a:avLst>
          </a:prstGeom>
          <a:solidFill>
            <a:srgbClr val="F1F4F9"/>
          </a:solidFill>
          <a:ln w="12700">
            <a:solidFill>
              <a:srgbClr val="F1F4F9"/>
            </a:solidFill>
            <a:prstDash val="solid"/>
          </a:ln>
        </p:spPr>
        <p:txBody>
          <a:bodyPr/>
          <a:p/>
        </p:txBody>
      </p:sp>
      <p:sp>
        <p:nvSpPr>
          <p:cNvPr id="27" name="Shape 20"/>
          <p:cNvSpPr/>
          <p:nvPr/>
        </p:nvSpPr>
        <p:spPr>
          <a:xfrm>
            <a:off x="4773168" y="2578608"/>
            <a:ext cx="566928" cy="566928"/>
          </a:xfrm>
          <a:prstGeom prst="ellipse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  <p:txBody>
          <a:bodyPr/>
          <a:p/>
        </p:txBody>
      </p:sp>
      <p:pic>
        <p:nvPicPr>
          <p:cNvPr id="28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09231" y="2714671"/>
            <a:ext cx="294803" cy="294803"/>
          </a:xfrm>
          <a:prstGeom prst="rect">
            <a:avLst/>
          </a:prstGeom>
        </p:spPr>
      </p:pic>
      <p:sp>
        <p:nvSpPr>
          <p:cNvPr id="29" name="Text 21"/>
          <p:cNvSpPr txBox="1"/>
          <p:nvPr/>
        </p:nvSpPr>
        <p:spPr>
          <a:xfrm>
            <a:off x="5532120" y="2487168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Branch review</a:t>
            </a:r>
            <a:endParaRPr lang="en-US" sz="1400" dirty="0"/>
          </a:p>
        </p:txBody>
      </p:sp>
      <p:sp>
        <p:nvSpPr>
          <p:cNvPr id="30" name="Text 22"/>
          <p:cNvSpPr txBox="1"/>
          <p:nvPr/>
        </p:nvSpPr>
        <p:spPr>
          <a:xfrm>
            <a:off x="5532120" y="2779776"/>
            <a:ext cx="3017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 confidence</a:t>
            </a:r>
            <a:endParaRPr lang="en-US" sz="1050" dirty="0"/>
          </a:p>
        </p:txBody>
      </p:sp>
      <p:sp>
        <p:nvSpPr>
          <p:cNvPr id="31" name="Text 23"/>
          <p:cNvSpPr txBox="1"/>
          <p:nvPr/>
        </p:nvSpPr>
        <p:spPr>
          <a:xfrm>
            <a:off x="5532120" y="2999232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Ops sees document beside extracted data</a:t>
            </a:r>
            <a:endParaRPr lang="en-US" sz="1050" dirty="0"/>
          </a:p>
        </p:txBody>
      </p:sp>
      <p:sp>
        <p:nvSpPr>
          <p:cNvPr id="32" name="Shape 24"/>
          <p:cNvSpPr/>
          <p:nvPr/>
        </p:nvSpPr>
        <p:spPr>
          <a:xfrm>
            <a:off x="4617720" y="3493008"/>
            <a:ext cx="4069080" cy="932688"/>
          </a:xfrm>
          <a:prstGeom prst="roundRect">
            <a:avLst>
              <a:gd name="adj" fmla="val 7843"/>
            </a:avLst>
          </a:prstGeom>
          <a:solidFill>
            <a:srgbClr val="F1F4F9"/>
          </a:solidFill>
          <a:ln w="12700">
            <a:solidFill>
              <a:srgbClr val="F1F4F9"/>
            </a:solidFill>
            <a:prstDash val="solid"/>
          </a:ln>
        </p:spPr>
        <p:txBody>
          <a:bodyPr/>
          <a:p/>
        </p:txBody>
      </p:sp>
      <p:sp>
        <p:nvSpPr>
          <p:cNvPr id="33" name="Shape 25"/>
          <p:cNvSpPr/>
          <p:nvPr/>
        </p:nvSpPr>
        <p:spPr>
          <a:xfrm>
            <a:off x="4773168" y="3675888"/>
            <a:ext cx="566928" cy="566928"/>
          </a:xfrm>
          <a:prstGeom prst="ellipse">
            <a:avLst/>
          </a:prstGeom>
          <a:solidFill>
            <a:srgbClr val="B3261E"/>
          </a:solidFill>
          <a:ln w="12700">
            <a:solidFill>
              <a:srgbClr val="B3261E"/>
            </a:solidFill>
            <a:prstDash val="solid"/>
          </a:ln>
        </p:spPr>
        <p:txBody>
          <a:bodyPr/>
          <a:p/>
        </p:txBody>
      </p:sp>
      <p:pic>
        <p:nvPicPr>
          <p:cNvPr id="34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909231" y="3811951"/>
            <a:ext cx="294803" cy="294803"/>
          </a:xfrm>
          <a:prstGeom prst="rect">
            <a:avLst/>
          </a:prstGeom>
        </p:spPr>
      </p:pic>
      <p:sp>
        <p:nvSpPr>
          <p:cNvPr id="35" name="Text 26"/>
          <p:cNvSpPr txBox="1"/>
          <p:nvPr/>
        </p:nvSpPr>
        <p:spPr>
          <a:xfrm>
            <a:off x="5532120" y="3584448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Re-upload now</a:t>
            </a:r>
            <a:endParaRPr lang="en-US" sz="1400" dirty="0"/>
          </a:p>
        </p:txBody>
      </p:sp>
      <p:sp>
        <p:nvSpPr>
          <p:cNvPr id="36" name="Text 27"/>
          <p:cNvSpPr txBox="1"/>
          <p:nvPr/>
        </p:nvSpPr>
        <p:spPr>
          <a:xfrm>
            <a:off x="5532120" y="3877056"/>
            <a:ext cx="3017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B326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quality / mismatch</a:t>
            </a:r>
            <a:endParaRPr lang="en-US" sz="1050" dirty="0"/>
          </a:p>
        </p:txBody>
      </p:sp>
      <p:sp>
        <p:nvSpPr>
          <p:cNvPr id="37" name="Text 28"/>
          <p:cNvSpPr txBox="1"/>
          <p:nvPr/>
        </p:nvSpPr>
        <p:spPr>
          <a:xfrm>
            <a:off x="5532120" y="4096512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told the exact reason instantly</a:t>
            </a:r>
            <a:endParaRPr lang="en-US" sz="1050" dirty="0"/>
          </a:p>
        </p:txBody>
      </p:sp>
      <p:sp>
        <p:nvSpPr>
          <p:cNvPr id="38" name="Text 29"/>
          <p:cNvSpPr txBox="1"/>
          <p:nvPr/>
        </p:nvSpPr>
        <p:spPr>
          <a:xfrm>
            <a:off x="457200" y="4828032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Missing-document automation  |  9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A1F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Reliable use of AI: it checks, people decide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786384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reads and matches documents; trust is earned in measured phases, with staff owning every decision</a:t>
            </a:r>
            <a:endParaRPr lang="en-US" sz="1300" dirty="0"/>
          </a:p>
        </p:txBody>
      </p:sp>
      <p:sp>
        <p:nvSpPr>
          <p:cNvPr id="10" name="Text 7"/>
          <p:cNvSpPr txBox="1"/>
          <p:nvPr/>
        </p:nvSpPr>
        <p:spPr>
          <a:xfrm>
            <a:off x="457200" y="4828032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Missing-document automation  |  10</a:t>
            </a:r>
            <a:endParaRPr lang="en-US" sz="900" dirty="0"/>
          </a:p>
        </p:txBody>
      </p:sp>
      <p:sp>
        <p:nvSpPr>
          <p:cNvPr id="11" name="Phase 1"/>
          <p:cNvSpPr/>
          <p:nvPr/>
        </p:nvSpPr>
        <p:spPr>
          <a:xfrm>
            <a:off x="457200" y="1234440"/>
            <a:ext cx="2606040" cy="1261872"/>
          </a:xfrm>
          <a:prstGeom prst="roundRect">
            <a:avLst>
              <a:gd name="adj" fmla="val 6000"/>
            </a:avLst>
          </a:prstGeom>
          <a:solidFill>
            <a:srgbClr val="F1F4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03504" y="1371600"/>
            <a:ext cx="329184" cy="329184"/>
          </a:xfrm>
          <a:prstGeom prst="ellipse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03504" y="1371600"/>
            <a:ext cx="329184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 i="0">
                <a:solidFill>
                  <a:srgbClr val="0A1F44"/>
                </a:solidFill>
                <a:latin typeface="Cambria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24128" y="1344168"/>
            <a:ext cx="194767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1" i="0">
                <a:solidFill>
                  <a:srgbClr val="0A1F44"/>
                </a:solidFill>
                <a:latin typeface="Calibri"/>
              </a:rPr>
              <a:t>Shadow mode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4128" y="1563624"/>
            <a:ext cx="194767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 i="0">
                <a:solidFill>
                  <a:srgbClr val="C9A227"/>
                </a:solidFill>
                <a:latin typeface="Calibri"/>
              </a:rPr>
              <a:t>Pilot · first 4–6 weeks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3504" y="1828800"/>
            <a:ext cx="2313432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1E2A3A"/>
                </a:solidFill>
                <a:latin typeface="Calibri"/>
              </a:rPr>
              <a:t>AI scores every document, but staff still check all of them. AI accuracy is measured against staff decisions.</a:t>
            </a:r>
          </a:p>
        </p:txBody>
      </p:sp>
      <p:sp>
        <p:nvSpPr>
          <p:cNvPr id="17" name="Chevron 16"/>
          <p:cNvSpPr/>
          <p:nvPr/>
        </p:nvSpPr>
        <p:spPr>
          <a:xfrm>
            <a:off x="3108960" y="1773936"/>
            <a:ext cx="118872" cy="182880"/>
          </a:xfrm>
          <a:prstGeom prst="chevron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Phase 2"/>
          <p:cNvSpPr/>
          <p:nvPr/>
        </p:nvSpPr>
        <p:spPr>
          <a:xfrm>
            <a:off x="3268980" y="1234440"/>
            <a:ext cx="2606040" cy="1261872"/>
          </a:xfrm>
          <a:prstGeom prst="roundRect">
            <a:avLst>
              <a:gd name="adj" fmla="val 6000"/>
            </a:avLst>
          </a:prstGeom>
          <a:solidFill>
            <a:srgbClr val="F1F4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3415284" y="1371600"/>
            <a:ext cx="329184" cy="329184"/>
          </a:xfrm>
          <a:prstGeom prst="ellipse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415284" y="1371600"/>
            <a:ext cx="329184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 i="0">
                <a:solidFill>
                  <a:srgbClr val="0A1F44"/>
                </a:solidFill>
                <a:latin typeface="Cambria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835908" y="1344168"/>
            <a:ext cx="194767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1" i="0">
                <a:solidFill>
                  <a:srgbClr val="0A1F44"/>
                </a:solidFill>
                <a:latin typeface="Calibri"/>
              </a:rPr>
              <a:t>Assisted review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835908" y="1563624"/>
            <a:ext cx="194767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 i="0">
                <a:solidFill>
                  <a:srgbClr val="C9A227"/>
                </a:solidFill>
                <a:latin typeface="Calibri"/>
              </a:rPr>
              <a:t>After accuracy is proven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415284" y="1828800"/>
            <a:ext cx="2313432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1E2A3A"/>
                </a:solidFill>
                <a:latin typeface="Calibri"/>
              </a:rPr>
              <a:t>Staff review every case, pre-sorted by match %, with mismatched fields highlighted for them.</a:t>
            </a:r>
          </a:p>
        </p:txBody>
      </p:sp>
      <p:sp>
        <p:nvSpPr>
          <p:cNvPr id="24" name="Chevron 23"/>
          <p:cNvSpPr/>
          <p:nvPr/>
        </p:nvSpPr>
        <p:spPr>
          <a:xfrm>
            <a:off x="5920740" y="1773936"/>
            <a:ext cx="118872" cy="182880"/>
          </a:xfrm>
          <a:prstGeom prst="chevron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Phase 3"/>
          <p:cNvSpPr/>
          <p:nvPr/>
        </p:nvSpPr>
        <p:spPr>
          <a:xfrm>
            <a:off x="6080760" y="1234440"/>
            <a:ext cx="2606040" cy="1261872"/>
          </a:xfrm>
          <a:prstGeom prst="roundRect">
            <a:avLst>
              <a:gd name="adj" fmla="val 6000"/>
            </a:avLst>
          </a:prstGeom>
          <a:solidFill>
            <a:srgbClr val="0A1F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6227064" y="1371600"/>
            <a:ext cx="329184" cy="329184"/>
          </a:xfrm>
          <a:prstGeom prst="ellipse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227064" y="1371600"/>
            <a:ext cx="329184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 i="0">
                <a:solidFill>
                  <a:srgbClr val="0A1F44"/>
                </a:solidFill>
                <a:latin typeface="Cambria"/>
              </a:rPr>
              <a:t>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647688" y="1344168"/>
            <a:ext cx="194767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1" i="0">
                <a:solidFill>
                  <a:srgbClr val="FFFFFF"/>
                </a:solidFill>
                <a:latin typeface="Calibri"/>
              </a:rPr>
              <a:t>Auto-accept high confidence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647688" y="1563624"/>
            <a:ext cx="194767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 i="0">
                <a:solidFill>
                  <a:srgbClr val="C9A227"/>
                </a:solidFill>
                <a:latin typeface="Calibri"/>
              </a:rPr>
              <a:t>Only when the target is met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227064" y="1828800"/>
            <a:ext cx="2313432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Calibri"/>
              </a:rPr>
              <a:t>Clean, high-score documents pass straight through; a 5% random sample is still checked by staff.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" y="2578608"/>
            <a:ext cx="82296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>
                <a:solidFill>
                  <a:srgbClr val="0A1F44"/>
                </a:solidFill>
                <a:latin typeface="Calibri"/>
              </a:rPr>
              <a:t>Gate to move up a phase:  </a:t>
            </a:r>
            <a:r>
              <a:rPr sz="1050" b="0" i="0">
                <a:solidFill>
                  <a:srgbClr val="1E2A3A"/>
                </a:solidFill>
                <a:latin typeface="Calibri"/>
              </a:rPr>
              <a:t>proposed ≥ 98% agreement with staff decisions on at least 1,000 pilot documents, signed off by Credit and Ops.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7200" y="2907792"/>
            <a:ext cx="82296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 i="0">
                <a:solidFill>
                  <a:srgbClr val="C9A227"/>
                </a:solidFill>
                <a:latin typeface="Calibri"/>
              </a:rPr>
              <a:t>GUARDRAILS IN EVERY PHASE</a:t>
            </a:r>
          </a:p>
        </p:txBody>
      </p:sp>
      <p:sp>
        <p:nvSpPr>
          <p:cNvPr id="33" name="Guard 1"/>
          <p:cNvSpPr/>
          <p:nvPr/>
        </p:nvSpPr>
        <p:spPr>
          <a:xfrm>
            <a:off x="457200" y="3154680"/>
            <a:ext cx="1920240" cy="1371600"/>
          </a:xfrm>
          <a:prstGeom prst="roundRect">
            <a:avLst>
              <a:gd name="adj" fmla="val 6000"/>
            </a:avLst>
          </a:prstGeom>
          <a:solidFill>
            <a:srgbClr val="F1F4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594360" y="3291840"/>
            <a:ext cx="402336" cy="402336"/>
          </a:xfrm>
          <a:prstGeom prst="ellipse">
            <a:avLst/>
          </a:prstGeom>
          <a:solidFill>
            <a:srgbClr val="0A1F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5" name="Picture 34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2990" y="3400470"/>
            <a:ext cx="185074" cy="185074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594360" y="3767328"/>
            <a:ext cx="16459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0A1F44"/>
                </a:solidFill>
                <a:latin typeface="Calibri"/>
              </a:rPr>
              <a:t>Explainable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94360" y="4005072"/>
            <a:ext cx="16459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>
                <a:solidFill>
                  <a:srgbClr val="1E2A3A"/>
                </a:solidFill>
                <a:latin typeface="Calibri"/>
              </a:rPr>
              <a:t>Reviewer sees each field match beside the image, not just a score</a:t>
            </a:r>
          </a:p>
        </p:txBody>
      </p:sp>
      <p:sp>
        <p:nvSpPr>
          <p:cNvPr id="38" name="Guard 2"/>
          <p:cNvSpPr/>
          <p:nvPr/>
        </p:nvSpPr>
        <p:spPr>
          <a:xfrm>
            <a:off x="2560320" y="3154680"/>
            <a:ext cx="1920240" cy="1371600"/>
          </a:xfrm>
          <a:prstGeom prst="roundRect">
            <a:avLst>
              <a:gd name="adj" fmla="val 6000"/>
            </a:avLst>
          </a:prstGeom>
          <a:solidFill>
            <a:srgbClr val="F1F4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2697480" y="3291840"/>
            <a:ext cx="402336" cy="402336"/>
          </a:xfrm>
          <a:prstGeom prst="ellipse">
            <a:avLst/>
          </a:prstGeom>
          <a:solidFill>
            <a:srgbClr val="0A1F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0" name="Picture 39" descr="ban_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06110" y="3400470"/>
            <a:ext cx="185074" cy="185074"/>
          </a:xfrm>
          <a:prstGeom prst="rect">
            <a:avLst/>
          </a:prstGeom>
        </p:spPr>
      </p:pic>
      <p:sp>
        <p:nvSpPr>
          <p:cNvPr id="41" name="TextBox 40"/>
          <p:cNvSpPr txBox="1"/>
          <p:nvPr/>
        </p:nvSpPr>
        <p:spPr>
          <a:xfrm>
            <a:off x="2697480" y="3767328"/>
            <a:ext cx="16459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0A1F44"/>
                </a:solidFill>
                <a:latin typeface="Calibri"/>
              </a:rPr>
              <a:t>People own decisions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697480" y="4005072"/>
            <a:ext cx="16459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>
                <a:solidFill>
                  <a:srgbClr val="1E2A3A"/>
                </a:solidFill>
                <a:latin typeface="Calibri"/>
              </a:rPr>
              <a:t>AI only accepts or flags; a content rejection is always made by staff, with a reason</a:t>
            </a:r>
          </a:p>
        </p:txBody>
      </p:sp>
      <p:sp>
        <p:nvSpPr>
          <p:cNvPr id="43" name="Guard 3"/>
          <p:cNvSpPr/>
          <p:nvPr/>
        </p:nvSpPr>
        <p:spPr>
          <a:xfrm>
            <a:off x="4663440" y="3154680"/>
            <a:ext cx="1920240" cy="1371600"/>
          </a:xfrm>
          <a:prstGeom prst="roundRect">
            <a:avLst>
              <a:gd name="adj" fmla="val 6000"/>
            </a:avLst>
          </a:prstGeom>
          <a:solidFill>
            <a:srgbClr val="F1F4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4800600" y="3291840"/>
            <a:ext cx="402336" cy="402336"/>
          </a:xfrm>
          <a:prstGeom prst="ellipse">
            <a:avLst/>
          </a:prstGeom>
          <a:solidFill>
            <a:srgbClr val="0A1F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5" name="Picture 44" descr="chart_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09230" y="3400470"/>
            <a:ext cx="185074" cy="185074"/>
          </a:xfrm>
          <a:prstGeom prst="rect">
            <a:avLst/>
          </a:prstGeom>
        </p:spPr>
      </p:pic>
      <p:sp>
        <p:nvSpPr>
          <p:cNvPr id="46" name="TextBox 45"/>
          <p:cNvSpPr txBox="1"/>
          <p:nvPr/>
        </p:nvSpPr>
        <p:spPr>
          <a:xfrm>
            <a:off x="4800600" y="3767328"/>
            <a:ext cx="16459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0A1F44"/>
                </a:solidFill>
                <a:latin typeface="Calibri"/>
              </a:rPr>
              <a:t>Monitored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800600" y="4005072"/>
            <a:ext cx="16459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>
                <a:solidFill>
                  <a:srgbClr val="1E2A3A"/>
                </a:solidFill>
                <a:latin typeface="Calibri"/>
              </a:rPr>
              <a:t>Weekly accuracy and false-accept rate; every score and model version is logged</a:t>
            </a:r>
          </a:p>
        </p:txBody>
      </p:sp>
      <p:sp>
        <p:nvSpPr>
          <p:cNvPr id="48" name="Guard 4"/>
          <p:cNvSpPr/>
          <p:nvPr/>
        </p:nvSpPr>
        <p:spPr>
          <a:xfrm>
            <a:off x="6766560" y="3154680"/>
            <a:ext cx="1920240" cy="1371600"/>
          </a:xfrm>
          <a:prstGeom prst="roundRect">
            <a:avLst>
              <a:gd name="adj" fmla="val 6000"/>
            </a:avLst>
          </a:prstGeom>
          <a:solidFill>
            <a:srgbClr val="F1F4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6903720" y="3291840"/>
            <a:ext cx="402336" cy="402336"/>
          </a:xfrm>
          <a:prstGeom prst="ellipse">
            <a:avLst/>
          </a:prstGeom>
          <a:solidFill>
            <a:srgbClr val="0A1F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0" name="Picture 49" descr="fallback_w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12350" y="3400470"/>
            <a:ext cx="185074" cy="185074"/>
          </a:xfrm>
          <a:prstGeom prst="rect">
            <a:avLst/>
          </a:prstGeom>
        </p:spPr>
      </p:pic>
      <p:sp>
        <p:nvSpPr>
          <p:cNvPr id="51" name="TextBox 50"/>
          <p:cNvSpPr txBox="1"/>
          <p:nvPr/>
        </p:nvSpPr>
        <p:spPr>
          <a:xfrm>
            <a:off x="6903720" y="3767328"/>
            <a:ext cx="16459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0A1F44"/>
                </a:solidFill>
                <a:latin typeface="Calibri"/>
              </a:rPr>
              <a:t>Safe fallback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903720" y="4005072"/>
            <a:ext cx="16459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0">
                <a:solidFill>
                  <a:srgbClr val="1E2A3A"/>
                </a:solidFill>
                <a:latin typeface="Calibri"/>
              </a:rPr>
              <a:t>If AI is unsure or unavailable, the case goes to manual review, never stuck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A1F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Effort per case: 10 hours down to 1 hour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786384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Staff hours spent per missing-document case, by activity</a:t>
            </a:r>
            <a:endParaRPr lang="en-US" sz="13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365760" y="1188720"/>
          <a:ext cx="5577840" cy="35204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6217920" y="1280160"/>
            <a:ext cx="2468880" cy="1463040"/>
          </a:xfrm>
          <a:prstGeom prst="roundRect">
            <a:avLst>
              <a:gd name="adj" fmla="val 5000"/>
            </a:avLst>
          </a:prstGeom>
          <a:solidFill>
            <a:srgbClr val="0A1F44"/>
          </a:solidFill>
          <a:ln w="12700">
            <a:solidFill>
              <a:srgbClr val="0A1F44"/>
            </a:solidFill>
            <a:prstDash val="solid"/>
          </a:ln>
        </p:spPr>
        <p:txBody>
          <a:bodyPr/>
          <a:p/>
        </p:txBody>
      </p:sp>
      <p:sp>
        <p:nvSpPr>
          <p:cNvPr id="6" name="Text 3"/>
          <p:cNvSpPr txBox="1"/>
          <p:nvPr/>
        </p:nvSpPr>
        <p:spPr>
          <a:xfrm>
            <a:off x="6355080" y="137160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90%</a:t>
            </a:r>
            <a:endParaRPr lang="en-US" sz="4400" dirty="0"/>
          </a:p>
        </p:txBody>
      </p:sp>
      <p:sp>
        <p:nvSpPr>
          <p:cNvPr id="7" name="Text 4"/>
          <p:cNvSpPr txBox="1"/>
          <p:nvPr/>
        </p:nvSpPr>
        <p:spPr>
          <a:xfrm>
            <a:off x="6355080" y="210312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 staff effort per case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6217920" y="2926080"/>
            <a:ext cx="2468880" cy="1188720"/>
          </a:xfrm>
          <a:prstGeom prst="roundRect">
            <a:avLst>
              <a:gd name="adj" fmla="val 6154"/>
            </a:avLst>
          </a:prstGeom>
          <a:solidFill>
            <a:srgbClr val="F6EDCF"/>
          </a:solidFill>
          <a:ln w="12700">
            <a:solidFill>
              <a:srgbClr val="F6EDCF"/>
            </a:solidFill>
            <a:prstDash val="solid"/>
          </a:ln>
        </p:spPr>
        <p:txBody>
          <a:bodyPr/>
          <a:p/>
        </p:txBody>
      </p:sp>
      <p:sp>
        <p:nvSpPr>
          <p:cNvPr id="9" name="Text 6"/>
          <p:cNvSpPr txBox="1"/>
          <p:nvPr/>
        </p:nvSpPr>
        <p:spPr>
          <a:xfrm>
            <a:off x="6355080" y="3017520"/>
            <a:ext cx="2240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A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Biggest win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visits drop from 6 hours to 30 minutes of optional assisted upload. That time goes back to sourcing loans.</a:t>
            </a:r>
            <a:endParaRPr lang="en-US" sz="1300" dirty="0"/>
          </a:p>
        </p:txBody>
      </p:sp>
      <p:sp>
        <p:nvSpPr>
          <p:cNvPr id="10" name="Text 7"/>
          <p:cNvSpPr txBox="1"/>
          <p:nvPr/>
        </p:nvSpPr>
        <p:spPr>
          <a:xfrm>
            <a:off x="457200" y="4828032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Missing-document automation  |  11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A1F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Cost comparison: existing vs new process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786384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case and per year at 1,000 cases a month; detailed assumptions on slide 14</a:t>
            </a:r>
            <a:endParaRPr lang="en-US" sz="13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34440"/>
          <a:ext cx="5303520" cy="2880360"/>
        </p:xfrm>
        <a:graphic>
          <a:graphicData uri="http://schemas.openxmlformats.org/drawingml/2006/table">
            <a:tbl>
              <a:tblPr/>
              <a:tblGrid>
                <a:gridCol w="2514600"/>
                <a:gridCol w="1325880"/>
                <a:gridCol w="1463040"/>
              </a:tblGrid>
              <a:tr h="2880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Cost line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F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Existing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F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New process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F44"/>
                    </a:solidFill>
                  </a:tcPr>
                </a:tc>
              </a:tr>
              <a:tr h="2880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E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Gap identification &amp; follow-up calls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 b="0">
                          <a:solidFill>
                            <a:srgbClr val="0A1F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₹600  ·  1.5 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 b="0">
                          <a:solidFill>
                            <a:srgbClr val="1E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   automated alerts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80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E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Sales visits to collect documents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 b="0">
                          <a:solidFill>
                            <a:srgbClr val="0A1F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₹3,000  ·  6 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 b="0">
                          <a:solidFill>
                            <a:srgbClr val="1E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₹250  ·  optional assist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9"/>
                    </a:solidFill>
                  </a:tcPr>
                </a:tc>
              </a:tr>
              <a:tr h="2880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E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Travel (2 visits per case)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 b="0">
                          <a:solidFill>
                            <a:srgbClr val="0A1F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₹600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 b="0">
                          <a:solidFill>
                            <a:srgbClr val="1E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80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E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Handover &amp; branch re-validation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 b="0">
                          <a:solidFill>
                            <a:srgbClr val="0A1F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₹1,000  ·  2.5 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 b="0">
                          <a:solidFill>
                            <a:srgbClr val="1E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₹200  ·  exceptions only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9"/>
                    </a:solidFill>
                  </a:tcPr>
                </a:tc>
              </a:tr>
              <a:tr h="2880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E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OCR / AI verification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 b="0">
                          <a:solidFill>
                            <a:srgbClr val="0A1F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 b="0">
                          <a:solidFill>
                            <a:srgbClr val="1E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₹0  ·  in-house OCR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80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E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SMS / WhatsApp messages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 b="0">
                          <a:solidFill>
                            <a:srgbClr val="0A1F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 b="0">
                          <a:solidFill>
                            <a:srgbClr val="1E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₹10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9"/>
                    </a:solidFill>
                  </a:tcPr>
                </a:tc>
              </a:tr>
              <a:tr h="2880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E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Bank infrastructure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 b="0">
                          <a:solidFill>
                            <a:srgbClr val="0A1F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 b="0">
                          <a:solidFill>
                            <a:srgbClr val="1E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₹100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80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A1F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Cost per case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D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 b="1">
                          <a:solidFill>
                            <a:srgbClr val="0A1F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₹5,200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DC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 b="1">
                          <a:solidFill>
                            <a:srgbClr val="0A1F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₹560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DCF"/>
                    </a:solidFill>
                  </a:tcPr>
                </a:tc>
              </a:tr>
              <a:tr h="2880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Cost per year  (12,000 cases)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F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 b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₹6.24 Cr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F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 b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₹0.67 Cr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F44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 txBox="1"/>
          <p:nvPr/>
        </p:nvSpPr>
        <p:spPr>
          <a:xfrm>
            <a:off x="457200" y="4828032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Missing-document automation  |  12</a:t>
            </a:r>
            <a:endParaRPr lang="en-US" sz="900" dirty="0"/>
          </a:p>
        </p:txBody>
      </p:sp>
      <p:graphicFrame>
        <p:nvGraphicFramePr>
          <p:cNvPr id="12" name="Chart 11"/>
          <p:cNvGraphicFramePr>
            <a:graphicFrameLocks noGrp="1"/>
          </p:cNvGraphicFramePr>
          <p:nvPr/>
        </p:nvGraphicFramePr>
        <p:xfrm>
          <a:off x="5989320" y="1188720"/>
          <a:ext cx="2697480" cy="21031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3" name="Saving callout"/>
          <p:cNvSpPr/>
          <p:nvPr/>
        </p:nvSpPr>
        <p:spPr>
          <a:xfrm>
            <a:off x="5989320" y="3401568"/>
            <a:ext cx="2697480" cy="850392"/>
          </a:xfrm>
          <a:prstGeom prst="roundRect">
            <a:avLst>
              <a:gd name="adj" fmla="val 6000"/>
            </a:avLst>
          </a:prstGeom>
          <a:solidFill>
            <a:srgbClr val="0A1F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144768" y="3474720"/>
            <a:ext cx="109728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3000" b="1" i="0">
                <a:solidFill>
                  <a:srgbClr val="C9A227"/>
                </a:solidFill>
                <a:latin typeface="Cambria"/>
              </a:rPr>
              <a:t>89%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78040" y="3493008"/>
            <a:ext cx="1417320" cy="7132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lower cost per case</a:t>
            </a:r>
            <a:r>
              <a:rPr sz="1100" b="0" i="0">
                <a:solidFill>
                  <a:srgbClr val="FFFFFF"/>
                </a:solidFill>
                <a:latin typeface="Calibri"/>
              </a:rPr>
              <a:t>
</a:t>
            </a:r>
            <a:r>
              <a:rPr sz="1100" b="0" i="0">
                <a:solidFill>
                  <a:srgbClr val="FFFFFF"/>
                </a:solidFill>
                <a:latin typeface="Calibri"/>
              </a:rPr>
              <a:t>₹5.57 Cr saved a year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4370832"/>
            <a:ext cx="822960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 i="1">
                <a:solidFill>
                  <a:srgbClr val="5B6B80"/>
                </a:solidFill>
                <a:latin typeface="Calibri"/>
              </a:rPr>
              <a:t>Existing = staff time + travel.  New = remaining staff time + messaging and bank infra; OCR runs in-house.  One-time build cost excluded.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1F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Annual impact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786384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FC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Illustrative, at 1,000 missing-document cases per month (assumptions on next slide)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1920240" cy="1645920"/>
          </a:xfrm>
          <a:prstGeom prst="roundRect">
            <a:avLst>
              <a:gd name="adj" fmla="val 3810"/>
            </a:avLst>
          </a:prstGeom>
          <a:solidFill>
            <a:srgbClr val="1A3566"/>
          </a:solidFill>
          <a:ln w="12700">
            <a:solidFill>
              <a:srgbClr val="1A3566"/>
            </a:solidFill>
            <a:prstDash val="solid"/>
          </a:ln>
        </p:spPr>
        <p:txBody>
          <a:bodyPr/>
          <a:p/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325880"/>
            <a:ext cx="384048" cy="384048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40080" y="1755648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108K</a:t>
            </a:r>
            <a:endParaRPr lang="en-US" sz="30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2304288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staff hours saved per year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2560320" y="1188720"/>
            <a:ext cx="1920240" cy="1645920"/>
          </a:xfrm>
          <a:prstGeom prst="roundRect">
            <a:avLst>
              <a:gd name="adj" fmla="val 3810"/>
            </a:avLst>
          </a:prstGeom>
          <a:solidFill>
            <a:srgbClr val="1A3566"/>
          </a:solidFill>
          <a:ln w="12700">
            <a:solidFill>
              <a:srgbClr val="1A3566"/>
            </a:solidFill>
            <a:prstDash val="solid"/>
          </a:ln>
        </p:spPr>
        <p:txBody>
          <a:bodyPr/>
          <a:p/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0" y="1325880"/>
            <a:ext cx="384048" cy="384048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2743200" y="1755648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₹5.57 Cr</a:t>
            </a:r>
            <a:endParaRPr lang="en-US" sz="3000" dirty="0"/>
          </a:p>
        </p:txBody>
      </p:sp>
      <p:sp>
        <p:nvSpPr>
          <p:cNvPr id="11" name="Text 7"/>
          <p:cNvSpPr txBox="1"/>
          <p:nvPr/>
        </p:nvSpPr>
        <p:spPr>
          <a:xfrm>
            <a:off x="2743200" y="2304288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 saving per year, after SMS &amp; infra</a:t>
            </a:r>
            <a:endParaRPr lang="en-US" sz="1200" dirty="0"/>
          </a:p>
        </p:txBody>
      </p:sp>
      <p:sp>
        <p:nvSpPr>
          <p:cNvPr id="12" name="Shape 8"/>
          <p:cNvSpPr/>
          <p:nvPr/>
        </p:nvSpPr>
        <p:spPr>
          <a:xfrm>
            <a:off x="4663440" y="1188720"/>
            <a:ext cx="1920240" cy="1645920"/>
          </a:xfrm>
          <a:prstGeom prst="roundRect">
            <a:avLst>
              <a:gd name="adj" fmla="val 3810"/>
            </a:avLst>
          </a:prstGeom>
          <a:solidFill>
            <a:srgbClr val="1A3566"/>
          </a:solidFill>
          <a:ln w="12700">
            <a:solidFill>
              <a:srgbClr val="1A3566"/>
            </a:solidFill>
            <a:prstDash val="solid"/>
          </a:ln>
        </p:spPr>
        <p:txBody>
          <a:bodyPr/>
          <a:p/>
        </p:txBody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46320" y="1325880"/>
            <a:ext cx="384048" cy="384048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4846320" y="1755648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~54 FTE</a:t>
            </a:r>
            <a:endParaRPr lang="en-US" sz="3000" dirty="0"/>
          </a:p>
        </p:txBody>
      </p:sp>
      <p:sp>
        <p:nvSpPr>
          <p:cNvPr id="15" name="Text 10"/>
          <p:cNvSpPr txBox="1"/>
          <p:nvPr/>
        </p:nvSpPr>
        <p:spPr>
          <a:xfrm>
            <a:off x="4846320" y="2304288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capacity freed for business</a:t>
            </a:r>
            <a:endParaRPr lang="en-US" sz="1200" dirty="0"/>
          </a:p>
        </p:txBody>
      </p:sp>
      <p:sp>
        <p:nvSpPr>
          <p:cNvPr id="16" name="Shape 11"/>
          <p:cNvSpPr/>
          <p:nvPr/>
        </p:nvSpPr>
        <p:spPr>
          <a:xfrm>
            <a:off x="6766560" y="1188720"/>
            <a:ext cx="1920240" cy="1645920"/>
          </a:xfrm>
          <a:prstGeom prst="roundRect">
            <a:avLst>
              <a:gd name="adj" fmla="val 3810"/>
            </a:avLst>
          </a:prstGeom>
          <a:solidFill>
            <a:srgbClr val="1A3566"/>
          </a:solidFill>
          <a:ln w="12700">
            <a:solidFill>
              <a:srgbClr val="1A3566"/>
            </a:solidFill>
            <a:prstDash val="solid"/>
          </a:ln>
        </p:spPr>
        <p:txBody>
          <a:bodyPr/>
          <a:p/>
        </p:txBody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49440" y="1325880"/>
            <a:ext cx="384048" cy="384048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6949440" y="1755648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 → 1</a:t>
            </a:r>
            <a:endParaRPr lang="en-US" sz="3000" dirty="0"/>
          </a:p>
        </p:txBody>
      </p:sp>
      <p:sp>
        <p:nvSpPr>
          <p:cNvPr id="19" name="Text 13"/>
          <p:cNvSpPr txBox="1"/>
          <p:nvPr/>
        </p:nvSpPr>
        <p:spPr>
          <a:xfrm>
            <a:off x="6949440" y="2304288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days turnaround</a:t>
            </a:r>
            <a:endParaRPr lang="en-US" sz="1200" dirty="0"/>
          </a:p>
        </p:txBody>
      </p:sp>
      <p:sp>
        <p:nvSpPr>
          <p:cNvPr id="20" name="Text 14"/>
          <p:cNvSpPr txBox="1"/>
          <p:nvPr/>
        </p:nvSpPr>
        <p:spPr>
          <a:xfrm>
            <a:off x="457200" y="41605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Plus revenue upside: 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disbursing 6 days earlier adds about ₹740 interest per case, roughly ₹0.89 Cr a year, before counting fewer customer drop-offs.</a:t>
            </a:r>
            <a:endParaRPr lang="en-US" sz="1300" dirty="0"/>
          </a:p>
        </p:txBody>
      </p:sp>
      <p:sp>
        <p:nvSpPr>
          <p:cNvPr id="21" name="Text 15"/>
          <p:cNvSpPr txBox="1"/>
          <p:nvPr/>
        </p:nvSpPr>
        <p:spPr>
          <a:xfrm>
            <a:off x="457200" y="46451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FC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case: ₹5,200 today vs ₹560 automated (₹450 staff + ₹110 run cost)  =  ₹4,640 saved.  Infra is fixed, so ₹/doc falls with volume: ~₹6 at 20K, ~₹3.5 at 40K docs/month.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57200" y="2999232"/>
            <a:ext cx="8229600" cy="1024128"/>
          </a:xfrm>
          <a:prstGeom prst="roundRect">
            <a:avLst>
              <a:gd name="adj" fmla="val 3810"/>
            </a:avLst>
          </a:prstGeom>
          <a:solidFill>
            <a:srgbClr val="1A3566"/>
          </a:solidFill>
          <a:ln w="12700">
            <a:solidFill>
              <a:srgbClr val="1A3566"/>
            </a:solidFill>
            <a:prstDash val="solid"/>
          </a:ln>
        </p:spPr>
        <p:txBody>
          <a:bodyPr/>
          <a:p/>
        </p:txBody>
      </p:sp>
      <p:sp>
        <p:nvSpPr>
          <p:cNvPr id="7" name="Text 4"/>
          <p:cNvSpPr txBox="1"/>
          <p:nvPr/>
        </p:nvSpPr>
        <p:spPr>
          <a:xfrm>
            <a:off x="640080" y="309067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 b="1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COST PER YEAR  ·  at 10,000 documents / month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640080" y="3346704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₹0</a:t>
            </a:r>
            <a:endParaRPr lang="en-US" sz="30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3675887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OCR / AI  ·  in-house, ₹0 / doc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2514600" y="3346704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₹1.2 L</a:t>
            </a:r>
            <a:endParaRPr lang="en-US" sz="3000" dirty="0"/>
          </a:p>
        </p:txBody>
      </p:sp>
      <p:sp>
        <p:nvSpPr>
          <p:cNvPr id="7" name="Text 4"/>
          <p:cNvSpPr txBox="1"/>
          <p:nvPr/>
        </p:nvSpPr>
        <p:spPr>
          <a:xfrm>
            <a:off x="2514600" y="3675887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SMS / WhatsApp  ·  ₹1 / doc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4389120" y="3346704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₹12.0 L</a:t>
            </a:r>
            <a:endParaRPr lang="en-US" sz="3000" dirty="0"/>
          </a:p>
        </p:txBody>
      </p:sp>
      <p:sp>
        <p:nvSpPr>
          <p:cNvPr id="7" name="Text 4"/>
          <p:cNvSpPr txBox="1"/>
          <p:nvPr/>
        </p:nvSpPr>
        <p:spPr>
          <a:xfrm>
            <a:off x="4389120" y="3675887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 infra  ·  fixed ₹1 L / month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6263640" y="3346704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₹13.2 L</a:t>
            </a:r>
            <a:endParaRPr lang="en-US" sz="3000" dirty="0"/>
          </a:p>
        </p:txBody>
      </p:sp>
      <p:sp>
        <p:nvSpPr>
          <p:cNvPr id="7" name="Text 4"/>
          <p:cNvSpPr txBox="1"/>
          <p:nvPr/>
        </p:nvSpPr>
        <p:spPr>
          <a:xfrm>
            <a:off x="6263640" y="3675887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 =  ₹11 / document,  ₹110 / case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6053328" y="3364992"/>
            <a:ext cx="18288" cy="566928"/>
          </a:xfrm>
          <a:prstGeom prst="roundRect">
            <a:avLst>
              <a:gd name="adj" fmla="val 3810"/>
            </a:avLst>
          </a:prstGeom>
          <a:solidFill>
            <a:srgbClr val="C9A227"/>
          </a:solidFill>
          <a:ln w="12700">
            <a:solidFill>
              <a:srgbClr val="1A3566"/>
            </a:solidFill>
            <a:prstDash val="solid"/>
          </a:ln>
        </p:spPr>
        <p:txBody>
          <a:bodyPr/>
          <a:p/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A1F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Assumptions behind the numbers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786384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Indicative figures; replace with branch MIS data before final sign-off</a:t>
            </a:r>
            <a:endParaRPr lang="en-US" sz="13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34440"/>
          <a:ext cx="8229600" cy="3017520"/>
        </p:xfrm>
        <a:graphic>
          <a:graphicData uri="http://schemas.openxmlformats.org/drawingml/2006/table">
            <a:tbl>
              <a:tblPr/>
              <a:tblGrid>
                <a:gridCol w="2743200"/>
                <a:gridCol w="2377440"/>
                <a:gridCol w="3108960"/>
              </a:tblGrid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Input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F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Value used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F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Basis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F44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E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Missing-document cases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A1F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1,000 / month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 be confirmed from LOS pendency report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E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Sales RM  /  Branch Ops cost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A1F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₹500  /  ₹400 per hour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Blended CTC incl. overheads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9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E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Travel per customer visit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A1F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₹300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Fuel / conveyance, 2 visits per case today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E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Staff hours per case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A1F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 today  →  1 automated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Activity breakdown on effort slide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9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E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Documents processed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A1F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10,000 / month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OCR + messages; conservative, incl. re-uploads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E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OCR / AI processing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A1F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₹0 / document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PaddleOCR in-house; no per-page fee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9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E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SMS / WhatsApp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A1F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₹0.25 × 4 per document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Link, OTP, reminder, status; incl. GST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E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Bank infrastructure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A1F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₹1,00,000 / month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App, workflow, OCR service, DB, storage; fixed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9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E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Loan size  /  rate  /  days saved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A1F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₹5,00,000  /  9%  /  6 days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 interest-upside estimate only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E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Hours per FTE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A1F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2,000 / year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Standard working hours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9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457200" y="44074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Excludes one-time build cost and drop-off revenue benefit. Run-cost rates are indicative 2026 prices; confirm SMS rates and server cost with IT.</a:t>
            </a:r>
            <a:endParaRPr lang="en-US" sz="105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4828032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Missing-document automation  |  14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A1F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Built-in controls and compliance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786384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Automation adds control rather than removing it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2606040" cy="1508760"/>
          </a:xfrm>
          <a:prstGeom prst="roundRect">
            <a:avLst>
              <a:gd name="adj" fmla="val 4848"/>
            </a:avLst>
          </a:prstGeom>
          <a:solidFill>
            <a:srgbClr val="F1F4F9"/>
          </a:solidFill>
          <a:ln w="12700">
            <a:solidFill>
              <a:srgbClr val="F1F4F9"/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640080" y="1463040"/>
            <a:ext cx="502920" cy="502920"/>
          </a:xfrm>
          <a:prstGeom prst="ellipse">
            <a:avLst/>
          </a:prstGeom>
          <a:solidFill>
            <a:srgbClr val="F6EDCF"/>
          </a:solidFill>
          <a:ln w="12700">
            <a:solidFill>
              <a:srgbClr val="F6EDCF"/>
            </a:solidFill>
            <a:prstDash val="solid"/>
          </a:ln>
        </p:spPr>
        <p:txBody>
          <a:bodyPr/>
          <a:p/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0781" y="1583741"/>
            <a:ext cx="261518" cy="261518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640080" y="202996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A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protection</a:t>
            </a:r>
            <a:endParaRPr lang="en-US" sz="1350" dirty="0"/>
          </a:p>
        </p:txBody>
      </p:sp>
      <p:sp>
        <p:nvSpPr>
          <p:cNvPr id="8" name="Text 5"/>
          <p:cNvSpPr txBox="1"/>
          <p:nvPr/>
        </p:nvSpPr>
        <p:spPr>
          <a:xfrm>
            <a:off x="640080" y="2304288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Encryption in transit and at rest; Aadhaar and PAN masked on screen and in logs.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3246120" y="1280160"/>
            <a:ext cx="2606040" cy="1508760"/>
          </a:xfrm>
          <a:prstGeom prst="roundRect">
            <a:avLst>
              <a:gd name="adj" fmla="val 4848"/>
            </a:avLst>
          </a:prstGeom>
          <a:solidFill>
            <a:srgbClr val="F1F4F9"/>
          </a:solidFill>
          <a:ln w="12700">
            <a:solidFill>
              <a:srgbClr val="F1F4F9"/>
            </a:solidFill>
            <a:prstDash val="solid"/>
          </a:ln>
        </p:spPr>
        <p:txBody>
          <a:bodyPr/>
          <a:p/>
        </p:txBody>
      </p:sp>
      <p:sp>
        <p:nvSpPr>
          <p:cNvPr id="10" name="Shape 7"/>
          <p:cNvSpPr/>
          <p:nvPr/>
        </p:nvSpPr>
        <p:spPr>
          <a:xfrm>
            <a:off x="3429000" y="1463040"/>
            <a:ext cx="502920" cy="502920"/>
          </a:xfrm>
          <a:prstGeom prst="ellipse">
            <a:avLst/>
          </a:prstGeom>
          <a:solidFill>
            <a:srgbClr val="F6EDCF"/>
          </a:solidFill>
          <a:ln w="12700">
            <a:solidFill>
              <a:srgbClr val="F6EDCF"/>
            </a:solidFill>
            <a:prstDash val="solid"/>
          </a:ln>
        </p:spPr>
        <p:txBody>
          <a:bodyPr/>
          <a:p/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49701" y="1583741"/>
            <a:ext cx="261518" cy="261518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3429000" y="202996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A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audit trail</a:t>
            </a:r>
            <a:endParaRPr lang="en-US" sz="1350" dirty="0"/>
          </a:p>
        </p:txBody>
      </p:sp>
      <p:sp>
        <p:nvSpPr>
          <p:cNvPr id="13" name="Text 9"/>
          <p:cNvSpPr txBox="1"/>
          <p:nvPr/>
        </p:nvSpPr>
        <p:spPr>
          <a:xfrm>
            <a:off x="3429000" y="2304288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uploaded, what the system decided, who approved, with timestamps.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6035040" y="1280160"/>
            <a:ext cx="2606040" cy="1508760"/>
          </a:xfrm>
          <a:prstGeom prst="roundRect">
            <a:avLst>
              <a:gd name="adj" fmla="val 4848"/>
            </a:avLst>
          </a:prstGeom>
          <a:solidFill>
            <a:srgbClr val="F1F4F9"/>
          </a:solidFill>
          <a:ln w="12700">
            <a:solidFill>
              <a:srgbClr val="F1F4F9"/>
            </a:solidFill>
            <a:prstDash val="solid"/>
          </a:ln>
        </p:spPr>
        <p:txBody>
          <a:bodyPr/>
          <a:p/>
        </p:txBody>
      </p:sp>
      <p:sp>
        <p:nvSpPr>
          <p:cNvPr id="15" name="Shape 11"/>
          <p:cNvSpPr/>
          <p:nvPr/>
        </p:nvSpPr>
        <p:spPr>
          <a:xfrm>
            <a:off x="6217920" y="1463040"/>
            <a:ext cx="502920" cy="502920"/>
          </a:xfrm>
          <a:prstGeom prst="ellipse">
            <a:avLst/>
          </a:prstGeom>
          <a:solidFill>
            <a:srgbClr val="F6EDCF"/>
          </a:solidFill>
          <a:ln w="12700">
            <a:solidFill>
              <a:srgbClr val="F6EDCF"/>
            </a:solidFill>
            <a:prstDash val="solid"/>
          </a:ln>
        </p:spPr>
        <p:txBody>
          <a:bodyPr/>
          <a:p/>
        </p:txBody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38621" y="1583741"/>
            <a:ext cx="261518" cy="261518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6217920" y="202996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A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in the loop</a:t>
            </a:r>
            <a:endParaRPr lang="en-US" sz="1350" dirty="0"/>
          </a:p>
        </p:txBody>
      </p:sp>
      <p:sp>
        <p:nvSpPr>
          <p:cNvPr id="18" name="Text 13"/>
          <p:cNvSpPr txBox="1"/>
          <p:nvPr/>
        </p:nvSpPr>
        <p:spPr>
          <a:xfrm>
            <a:off x="6217920" y="2304288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Auto-accept only above a set confidence; thresholds owned by Credit and Ops.</a:t>
            </a:r>
            <a:endParaRPr lang="en-US" sz="1050" dirty="0"/>
          </a:p>
        </p:txBody>
      </p:sp>
      <p:sp>
        <p:nvSpPr>
          <p:cNvPr id="19" name="Shape 14"/>
          <p:cNvSpPr/>
          <p:nvPr/>
        </p:nvSpPr>
        <p:spPr>
          <a:xfrm>
            <a:off x="457200" y="2971800"/>
            <a:ext cx="2606040" cy="1508760"/>
          </a:xfrm>
          <a:prstGeom prst="roundRect">
            <a:avLst>
              <a:gd name="adj" fmla="val 4848"/>
            </a:avLst>
          </a:prstGeom>
          <a:solidFill>
            <a:srgbClr val="F1F4F9"/>
          </a:solidFill>
          <a:ln w="12700">
            <a:solidFill>
              <a:srgbClr val="F1F4F9"/>
            </a:solidFill>
            <a:prstDash val="solid"/>
          </a:ln>
        </p:spPr>
        <p:txBody>
          <a:bodyPr/>
          <a:p/>
        </p:txBody>
      </p:sp>
      <p:sp>
        <p:nvSpPr>
          <p:cNvPr id="20" name="Shape 15"/>
          <p:cNvSpPr/>
          <p:nvPr/>
        </p:nvSpPr>
        <p:spPr>
          <a:xfrm>
            <a:off x="640080" y="3154680"/>
            <a:ext cx="502920" cy="502920"/>
          </a:xfrm>
          <a:prstGeom prst="ellipse">
            <a:avLst/>
          </a:prstGeom>
          <a:solidFill>
            <a:srgbClr val="F6EDCF"/>
          </a:solidFill>
          <a:ln w="12700">
            <a:solidFill>
              <a:srgbClr val="F6EDCF"/>
            </a:solidFill>
            <a:prstDash val="solid"/>
          </a:ln>
        </p:spPr>
        <p:txBody>
          <a:bodyPr/>
          <a:p/>
        </p:txBody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0781" y="3275381"/>
            <a:ext cx="261518" cy="261518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640080" y="372160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A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access</a:t>
            </a:r>
            <a:endParaRPr lang="en-US" sz="1350" dirty="0"/>
          </a:p>
        </p:txBody>
      </p:sp>
      <p:sp>
        <p:nvSpPr>
          <p:cNvPr id="23" name="Text 17"/>
          <p:cNvSpPr txBox="1"/>
          <p:nvPr/>
        </p:nvSpPr>
        <p:spPr>
          <a:xfrm>
            <a:off x="640080" y="3995928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One-time links with OTP and expiry; role-based access for staff.</a:t>
            </a:r>
            <a:endParaRPr lang="en-US" sz="1050" dirty="0"/>
          </a:p>
        </p:txBody>
      </p:sp>
      <p:sp>
        <p:nvSpPr>
          <p:cNvPr id="24" name="Shape 18"/>
          <p:cNvSpPr/>
          <p:nvPr/>
        </p:nvSpPr>
        <p:spPr>
          <a:xfrm>
            <a:off x="3246120" y="2971800"/>
            <a:ext cx="2606040" cy="1508760"/>
          </a:xfrm>
          <a:prstGeom prst="roundRect">
            <a:avLst>
              <a:gd name="adj" fmla="val 4848"/>
            </a:avLst>
          </a:prstGeom>
          <a:solidFill>
            <a:srgbClr val="F1F4F9"/>
          </a:solidFill>
          <a:ln w="12700">
            <a:solidFill>
              <a:srgbClr val="F1F4F9"/>
            </a:solidFill>
            <a:prstDash val="solid"/>
          </a:ln>
        </p:spPr>
        <p:txBody>
          <a:bodyPr/>
          <a:p/>
        </p:txBody>
      </p:sp>
      <p:sp>
        <p:nvSpPr>
          <p:cNvPr id="25" name="Shape 19"/>
          <p:cNvSpPr/>
          <p:nvPr/>
        </p:nvSpPr>
        <p:spPr>
          <a:xfrm>
            <a:off x="3429000" y="3154680"/>
            <a:ext cx="502920" cy="502920"/>
          </a:xfrm>
          <a:prstGeom prst="ellipse">
            <a:avLst/>
          </a:prstGeom>
          <a:solidFill>
            <a:srgbClr val="F6EDCF"/>
          </a:solidFill>
          <a:ln w="12700">
            <a:solidFill>
              <a:srgbClr val="F6EDCF"/>
            </a:solidFill>
            <a:prstDash val="solid"/>
          </a:ln>
        </p:spPr>
        <p:txBody>
          <a:bodyPr/>
          <a:p/>
        </p:txBody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49701" y="3275381"/>
            <a:ext cx="261518" cy="261518"/>
          </a:xfrm>
          <a:prstGeom prst="rect">
            <a:avLst/>
          </a:prstGeom>
        </p:spPr>
      </p:pic>
      <p:sp>
        <p:nvSpPr>
          <p:cNvPr id="27" name="Text 20"/>
          <p:cNvSpPr txBox="1"/>
          <p:nvPr/>
        </p:nvSpPr>
        <p:spPr>
          <a:xfrm>
            <a:off x="3429000" y="372160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A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stays in India</a:t>
            </a:r>
            <a:endParaRPr lang="en-US" sz="1350" dirty="0"/>
          </a:p>
        </p:txBody>
      </p:sp>
      <p:sp>
        <p:nvSpPr>
          <p:cNvPr id="28" name="Text 21"/>
          <p:cNvSpPr txBox="1"/>
          <p:nvPr/>
        </p:nvSpPr>
        <p:spPr>
          <a:xfrm>
            <a:off x="3429000" y="3995928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Hosted on bank-approved infrastructure per RBI data localisation norms.</a:t>
            </a:r>
            <a:endParaRPr lang="en-US" sz="1050" dirty="0"/>
          </a:p>
        </p:txBody>
      </p:sp>
      <p:sp>
        <p:nvSpPr>
          <p:cNvPr id="29" name="Shape 22"/>
          <p:cNvSpPr/>
          <p:nvPr/>
        </p:nvSpPr>
        <p:spPr>
          <a:xfrm>
            <a:off x="6035040" y="2971800"/>
            <a:ext cx="2606040" cy="1508760"/>
          </a:xfrm>
          <a:prstGeom prst="roundRect">
            <a:avLst>
              <a:gd name="adj" fmla="val 4848"/>
            </a:avLst>
          </a:prstGeom>
          <a:solidFill>
            <a:srgbClr val="F1F4F9"/>
          </a:solidFill>
          <a:ln w="12700">
            <a:solidFill>
              <a:srgbClr val="F1F4F9"/>
            </a:solidFill>
            <a:prstDash val="solid"/>
          </a:ln>
        </p:spPr>
        <p:txBody>
          <a:bodyPr/>
          <a:p/>
        </p:txBody>
      </p:sp>
      <p:sp>
        <p:nvSpPr>
          <p:cNvPr id="30" name="Shape 23"/>
          <p:cNvSpPr/>
          <p:nvPr/>
        </p:nvSpPr>
        <p:spPr>
          <a:xfrm>
            <a:off x="6217920" y="3154680"/>
            <a:ext cx="502920" cy="502920"/>
          </a:xfrm>
          <a:prstGeom prst="ellipse">
            <a:avLst/>
          </a:prstGeom>
          <a:solidFill>
            <a:srgbClr val="F6EDCF"/>
          </a:solidFill>
          <a:ln w="12700">
            <a:solidFill>
              <a:srgbClr val="F6EDCF"/>
            </a:solidFill>
            <a:prstDash val="solid"/>
          </a:ln>
        </p:spPr>
        <p:txBody>
          <a:bodyPr/>
          <a:p/>
        </p:txBody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38621" y="3275381"/>
            <a:ext cx="261518" cy="261518"/>
          </a:xfrm>
          <a:prstGeom prst="rect">
            <a:avLst/>
          </a:prstGeom>
        </p:spPr>
      </p:pic>
      <p:sp>
        <p:nvSpPr>
          <p:cNvPr id="32" name="Text 24"/>
          <p:cNvSpPr txBox="1"/>
          <p:nvPr/>
        </p:nvSpPr>
        <p:spPr>
          <a:xfrm>
            <a:off x="6217920" y="372160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A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 monitoring</a:t>
            </a:r>
            <a:endParaRPr lang="en-US" sz="1350" dirty="0"/>
          </a:p>
        </p:txBody>
      </p:sp>
      <p:sp>
        <p:nvSpPr>
          <p:cNvPr id="33" name="Text 25"/>
          <p:cNvSpPr txBox="1"/>
          <p:nvPr/>
        </p:nvSpPr>
        <p:spPr>
          <a:xfrm>
            <a:off x="6217920" y="3995928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 review of AI decisions vs manual checks; models retuned as needed.</a:t>
            </a:r>
            <a:endParaRPr lang="en-US" sz="1050" dirty="0"/>
          </a:p>
        </p:txBody>
      </p:sp>
      <p:sp>
        <p:nvSpPr>
          <p:cNvPr id="34" name="Text 26"/>
          <p:cNvSpPr txBox="1"/>
          <p:nvPr/>
        </p:nvSpPr>
        <p:spPr>
          <a:xfrm>
            <a:off x="457200" y="4828032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Missing-document automation  |  15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A1F4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Phased rollout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786384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small, measure, then scale across branches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1417320" y="1691640"/>
            <a:ext cx="6309360" cy="0"/>
          </a:xfrm>
          <a:prstGeom prst="line">
            <a:avLst/>
          </a:prstGeom>
          <a:noFill/>
          <a:ln w="25400">
            <a:solidFill>
              <a:srgbClr val="C9A227"/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1161288" y="1435608"/>
            <a:ext cx="512064" cy="512064"/>
          </a:xfrm>
          <a:prstGeom prst="ellipse">
            <a:avLst/>
          </a:prstGeom>
          <a:solidFill>
            <a:srgbClr val="0A1F44"/>
          </a:solidFill>
          <a:ln w="254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 txBox="1"/>
          <p:nvPr/>
        </p:nvSpPr>
        <p:spPr>
          <a:xfrm>
            <a:off x="1161288" y="143560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457200" y="2148840"/>
            <a:ext cx="1920240" cy="1600200"/>
          </a:xfrm>
          <a:prstGeom prst="roundRect">
            <a:avLst>
              <a:gd name="adj" fmla="val 4571"/>
            </a:avLst>
          </a:prstGeom>
          <a:solidFill>
            <a:srgbClr val="F1F4F9"/>
          </a:solidFill>
          <a:ln w="12700">
            <a:solidFill>
              <a:srgbClr val="F1F4F9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 txBox="1"/>
          <p:nvPr/>
        </p:nvSpPr>
        <p:spPr>
          <a:xfrm>
            <a:off x="594360" y="2240280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 1-4</a:t>
            </a:r>
            <a:endParaRPr lang="en-US" sz="1050" dirty="0"/>
          </a:p>
        </p:txBody>
      </p:sp>
      <p:sp>
        <p:nvSpPr>
          <p:cNvPr id="9" name="Text 7"/>
          <p:cNvSpPr txBox="1"/>
          <p:nvPr/>
        </p:nvSpPr>
        <p:spPr>
          <a:xfrm>
            <a:off x="594360" y="246888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594360" y="2816352"/>
            <a:ext cx="1645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 document types, validation rules and LOS integration points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264408" y="1435608"/>
            <a:ext cx="512064" cy="512064"/>
          </a:xfrm>
          <a:prstGeom prst="ellipse">
            <a:avLst/>
          </a:prstGeom>
          <a:solidFill>
            <a:srgbClr val="0A1F44"/>
          </a:solidFill>
          <a:ln w="254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 txBox="1"/>
          <p:nvPr/>
        </p:nvSpPr>
        <p:spPr>
          <a:xfrm>
            <a:off x="3264408" y="143560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2560320" y="2148840"/>
            <a:ext cx="1920240" cy="1600200"/>
          </a:xfrm>
          <a:prstGeom prst="roundRect">
            <a:avLst>
              <a:gd name="adj" fmla="val 4571"/>
            </a:avLst>
          </a:prstGeom>
          <a:solidFill>
            <a:srgbClr val="F1F4F9"/>
          </a:solidFill>
          <a:ln w="12700">
            <a:solidFill>
              <a:srgbClr val="F1F4F9"/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 txBox="1"/>
          <p:nvPr/>
        </p:nvSpPr>
        <p:spPr>
          <a:xfrm>
            <a:off x="2697480" y="2240280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 5-10</a:t>
            </a:r>
            <a:endParaRPr lang="en-US" sz="1050" dirty="0"/>
          </a:p>
        </p:txBody>
      </p:sp>
      <p:sp>
        <p:nvSpPr>
          <p:cNvPr id="15" name="Text 13"/>
          <p:cNvSpPr txBox="1"/>
          <p:nvPr/>
        </p:nvSpPr>
        <p:spPr>
          <a:xfrm>
            <a:off x="2697480" y="246888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2697480" y="2816352"/>
            <a:ext cx="1645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page, OCR/AI checks for top 5 documents, Ops console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367528" y="1435608"/>
            <a:ext cx="512064" cy="512064"/>
          </a:xfrm>
          <a:prstGeom prst="ellipse">
            <a:avLst/>
          </a:prstGeom>
          <a:solidFill>
            <a:srgbClr val="C9A227"/>
          </a:solidFill>
          <a:ln w="254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18" name="Text 16"/>
          <p:cNvSpPr txBox="1"/>
          <p:nvPr/>
        </p:nvSpPr>
        <p:spPr>
          <a:xfrm>
            <a:off x="5367528" y="143560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4663440" y="2148840"/>
            <a:ext cx="1920240" cy="1600200"/>
          </a:xfrm>
          <a:prstGeom prst="roundRect">
            <a:avLst>
              <a:gd name="adj" fmla="val 4571"/>
            </a:avLst>
          </a:prstGeom>
          <a:solidFill>
            <a:srgbClr val="F6EDCF"/>
          </a:solidFill>
          <a:ln w="12700">
            <a:solidFill>
              <a:srgbClr val="F6EDCF"/>
            </a:solidFill>
            <a:prstDash val="solid"/>
          </a:ln>
        </p:spPr>
        <p:txBody>
          <a:bodyPr/>
          <a:p/>
        </p:txBody>
      </p:sp>
      <p:sp>
        <p:nvSpPr>
          <p:cNvPr id="20" name="Text 18"/>
          <p:cNvSpPr txBox="1"/>
          <p:nvPr/>
        </p:nvSpPr>
        <p:spPr>
          <a:xfrm>
            <a:off x="4800600" y="2240280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 11-14</a:t>
            </a:r>
            <a:endParaRPr lang="en-US" sz="1050" dirty="0"/>
          </a:p>
        </p:txBody>
      </p:sp>
      <p:sp>
        <p:nvSpPr>
          <p:cNvPr id="21" name="Text 19"/>
          <p:cNvSpPr txBox="1"/>
          <p:nvPr/>
        </p:nvSpPr>
        <p:spPr>
          <a:xfrm>
            <a:off x="4800600" y="246888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4800600" y="2816352"/>
            <a:ext cx="1645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5-10 branches; run alongside manual checks to prove accuracy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7470648" y="1435608"/>
            <a:ext cx="512064" cy="512064"/>
          </a:xfrm>
          <a:prstGeom prst="ellipse">
            <a:avLst/>
          </a:prstGeom>
          <a:solidFill>
            <a:srgbClr val="0A1F44"/>
          </a:solidFill>
          <a:ln w="254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24" name="Text 22"/>
          <p:cNvSpPr txBox="1"/>
          <p:nvPr/>
        </p:nvSpPr>
        <p:spPr>
          <a:xfrm>
            <a:off x="7470648" y="143560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800" dirty="0"/>
          </a:p>
        </p:txBody>
      </p:sp>
      <p:sp>
        <p:nvSpPr>
          <p:cNvPr id="25" name="Shape 23"/>
          <p:cNvSpPr/>
          <p:nvPr/>
        </p:nvSpPr>
        <p:spPr>
          <a:xfrm>
            <a:off x="6766560" y="2148840"/>
            <a:ext cx="1920240" cy="1600200"/>
          </a:xfrm>
          <a:prstGeom prst="roundRect">
            <a:avLst>
              <a:gd name="adj" fmla="val 4571"/>
            </a:avLst>
          </a:prstGeom>
          <a:solidFill>
            <a:srgbClr val="F1F4F9"/>
          </a:solidFill>
          <a:ln w="12700">
            <a:solidFill>
              <a:srgbClr val="F1F4F9"/>
            </a:solidFill>
            <a:prstDash val="solid"/>
          </a:ln>
        </p:spPr>
        <p:txBody>
          <a:bodyPr/>
          <a:p/>
        </p:txBody>
      </p:sp>
      <p:sp>
        <p:nvSpPr>
          <p:cNvPr id="26" name="Text 24"/>
          <p:cNvSpPr txBox="1"/>
          <p:nvPr/>
        </p:nvSpPr>
        <p:spPr>
          <a:xfrm>
            <a:off x="6903720" y="2240280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15+</a:t>
            </a:r>
            <a:endParaRPr lang="en-US" sz="1050" dirty="0"/>
          </a:p>
        </p:txBody>
      </p:sp>
      <p:sp>
        <p:nvSpPr>
          <p:cNvPr id="27" name="Text 25"/>
          <p:cNvSpPr txBox="1"/>
          <p:nvPr/>
        </p:nvSpPr>
        <p:spPr>
          <a:xfrm>
            <a:off x="6903720" y="246888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</a:t>
            </a:r>
            <a:endParaRPr lang="en-US" sz="1600" dirty="0"/>
          </a:p>
        </p:txBody>
      </p:sp>
      <p:sp>
        <p:nvSpPr>
          <p:cNvPr id="28" name="Text 26"/>
          <p:cNvSpPr txBox="1"/>
          <p:nvPr/>
        </p:nvSpPr>
        <p:spPr>
          <a:xfrm>
            <a:off x="6903720" y="2816352"/>
            <a:ext cx="1645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branches, more document types, raise auto-accept thresholds</a:t>
            </a:r>
            <a:endParaRPr lang="en-US" sz="1100" dirty="0"/>
          </a:p>
        </p:txBody>
      </p:sp>
      <p:sp>
        <p:nvSpPr>
          <p:cNvPr id="29" name="Text 27"/>
          <p:cNvSpPr txBox="1"/>
          <p:nvPr/>
        </p:nvSpPr>
        <p:spPr>
          <a:xfrm>
            <a:off x="457200" y="40233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1F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 success measures:  </a:t>
            </a:r>
            <a:pPr indent="0" marL="0">
              <a:buNone/>
            </a:pPr>
            <a:r>
              <a:rPr lang="en-US" sz="120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turnaround under 1 day  •  80%+ documents auto-verified  •  zero sales visits for document collection</a:t>
            </a:r>
            <a:endParaRPr lang="en-US" sz="1200" dirty="0"/>
          </a:p>
        </p:txBody>
      </p:sp>
      <p:sp>
        <p:nvSpPr>
          <p:cNvPr id="30" name="Text 28"/>
          <p:cNvSpPr txBox="1"/>
          <p:nvPr/>
        </p:nvSpPr>
        <p:spPr>
          <a:xfrm>
            <a:off x="457200" y="4828032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Missing-document automation  |  16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F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685800"/>
            <a:ext cx="777240" cy="777240"/>
          </a:xfrm>
          <a:prstGeom prst="ellipse">
            <a:avLst/>
          </a:prstGeom>
          <a:solidFill>
            <a:srgbClr val="1A3566"/>
          </a:solidFill>
          <a:ln w="12700">
            <a:solidFill>
              <a:srgbClr val="1A3566"/>
            </a:solidFill>
            <a:prstDash val="solid"/>
          </a:ln>
        </p:spPr>
        <p:txBody>
          <a:bodyPr/>
          <a:p/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5178" y="872338"/>
            <a:ext cx="404165" cy="404165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48640" y="1645920"/>
            <a:ext cx="8046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4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2450592"/>
            <a:ext cx="7863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6ED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and discussion</a:t>
            </a:r>
            <a:endParaRPr lang="en-US" sz="18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301752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7 days to 1 day: same-day files, ~54 FTE of capacity back to the business, ₹5.57 Cr a year in net savings.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443484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FC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AGRI Business Group  |  Process transformation proposal  |  October 2026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Missing Document Collection: 7 Days to 1 Day</dc:title>
  <dc:subject>PptxGenJS Presentation</dc:subject>
  <dc:creator>PptxGenJS</dc:creator>
  <cp:lastModifiedBy>PptxGenJS</cp:lastModifiedBy>
  <cp:revision>1</cp:revision>
  <dcterms:created xsi:type="dcterms:W3CDTF">2026-10-01T10:54:11Z</dcterms:created>
  <dcterms:modified xsi:type="dcterms:W3CDTF">2026-10-01T10:54:11Z</dcterms:modified>
</cp:coreProperties>
</file>